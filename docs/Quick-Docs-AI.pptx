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Nunito Semi Bold" panose="020B0604020202020204" charset="0"/>
      <p:regular r:id="rId13"/>
    </p:embeddedFont>
    <p:embeddedFont>
      <p:font typeface="PT Sans" panose="020B0503020203020204" pitchFamily="34"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11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3174325"/>
            <a:ext cx="7468553" cy="1231821"/>
          </a:xfrm>
          <a:prstGeom prst="rect">
            <a:avLst/>
          </a:prstGeom>
          <a:noFill/>
          <a:ln/>
        </p:spPr>
        <p:txBody>
          <a:bodyPr wrap="square" lIns="0" tIns="0" rIns="0" bIns="0" rtlCol="0" anchor="t"/>
          <a:lstStyle/>
          <a:p>
            <a:pPr marL="0" indent="0" algn="ctr">
              <a:lnSpc>
                <a:spcPts val="4850"/>
              </a:lnSpc>
              <a:buNone/>
            </a:pPr>
            <a:r>
              <a:rPr lang="en-US" sz="3850" dirty="0">
                <a:solidFill>
                  <a:srgbClr val="000000"/>
                </a:solidFill>
                <a:latin typeface="Nunito Semi Bold" pitchFamily="34" charset="0"/>
                <a:ea typeface="Nunito Semi Bold" pitchFamily="34" charset="-122"/>
                <a:cs typeface="Nunito Semi Bold" pitchFamily="34" charset="-120"/>
              </a:rPr>
              <a:t>Quick Docs: AI-Powered Document Access</a:t>
            </a:r>
            <a:endParaRPr lang="en-US" sz="3850" dirty="0"/>
          </a:p>
        </p:txBody>
      </p:sp>
      <p:sp>
        <p:nvSpPr>
          <p:cNvPr id="4" name="Text 1"/>
          <p:cNvSpPr/>
          <p:nvPr/>
        </p:nvSpPr>
        <p:spPr>
          <a:xfrm>
            <a:off x="837724" y="4720233"/>
            <a:ext cx="7468553" cy="335042"/>
          </a:xfrm>
          <a:prstGeom prst="rect">
            <a:avLst/>
          </a:prstGeom>
          <a:noFill/>
          <a:ln/>
        </p:spPr>
        <p:txBody>
          <a:bodyPr wrap="none" lIns="0" tIns="0" rIns="0" bIns="0" rtlCol="0" anchor="t"/>
          <a:lstStyle/>
          <a:p>
            <a:pPr marL="0" indent="0" algn="ctr">
              <a:lnSpc>
                <a:spcPts val="2600"/>
              </a:lnSpc>
              <a:buNone/>
            </a:pPr>
            <a:r>
              <a:rPr lang="en-US" sz="1600" dirty="0">
                <a:solidFill>
                  <a:srgbClr val="000000"/>
                </a:solidFill>
                <a:latin typeface="PT Sans" pitchFamily="34" charset="0"/>
                <a:ea typeface="PT Sans" pitchFamily="34" charset="-122"/>
                <a:cs typeface="PT Sans" pitchFamily="34" charset="-120"/>
              </a:rPr>
              <a:t>Empowering AI features to access information for everyone, everywhere.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3529"/>
          </a:xfrm>
          <a:prstGeom prst="rect">
            <a:avLst/>
          </a:prstGeom>
        </p:spPr>
      </p:pic>
      <p:sp>
        <p:nvSpPr>
          <p:cNvPr id="3" name="Text 0"/>
          <p:cNvSpPr/>
          <p:nvPr/>
        </p:nvSpPr>
        <p:spPr>
          <a:xfrm>
            <a:off x="736759" y="506492"/>
            <a:ext cx="5590342" cy="541734"/>
          </a:xfrm>
          <a:prstGeom prst="rect">
            <a:avLst/>
          </a:prstGeom>
          <a:noFill/>
          <a:ln/>
        </p:spPr>
        <p:txBody>
          <a:bodyPr wrap="none" lIns="0" tIns="0" rIns="0" bIns="0" rtlCol="0" anchor="t"/>
          <a:lstStyle/>
          <a:p>
            <a:pPr marL="0" indent="0" algn="l">
              <a:lnSpc>
                <a:spcPts val="4250"/>
              </a:lnSpc>
              <a:buNone/>
            </a:pPr>
            <a:r>
              <a:rPr lang="en-US" sz="3400" dirty="0">
                <a:solidFill>
                  <a:srgbClr val="FFFFFF"/>
                </a:solidFill>
                <a:latin typeface="Nunito Semi Bold" pitchFamily="34" charset="0"/>
                <a:ea typeface="Nunito Semi Bold" pitchFamily="34" charset="-122"/>
                <a:cs typeface="Nunito Semi Bold" pitchFamily="34" charset="-120"/>
              </a:rPr>
              <a:t>Meet the Unstoppable Force</a:t>
            </a:r>
            <a:endParaRPr lang="en-US" sz="3400" dirty="0"/>
          </a:p>
        </p:txBody>
      </p:sp>
      <p:sp>
        <p:nvSpPr>
          <p:cNvPr id="4" name="Text 1"/>
          <p:cNvSpPr/>
          <p:nvPr/>
        </p:nvSpPr>
        <p:spPr>
          <a:xfrm>
            <a:off x="736759" y="1324451"/>
            <a:ext cx="7670483" cy="589359"/>
          </a:xfrm>
          <a:prstGeom prst="rect">
            <a:avLst/>
          </a:prstGeom>
          <a:noFill/>
          <a:ln/>
        </p:spPr>
        <p:txBody>
          <a:bodyPr wrap="square" lIns="0" tIns="0" rIns="0" bIns="0" rtlCol="0" anchor="t"/>
          <a:lstStyle/>
          <a:p>
            <a:pPr marL="0" indent="0" algn="l">
              <a:lnSpc>
                <a:spcPts val="2300"/>
              </a:lnSpc>
              <a:buNone/>
            </a:pPr>
            <a:r>
              <a:rPr lang="en-US" sz="1450" dirty="0">
                <a:solidFill>
                  <a:srgbClr val="FFFFFF"/>
                </a:solidFill>
                <a:latin typeface="PT Sans" pitchFamily="34" charset="0"/>
                <a:ea typeface="PT Sans" pitchFamily="34" charset="-122"/>
                <a:cs typeface="PT Sans" pitchFamily="34" charset="-120"/>
              </a:rPr>
              <a:t>Our team brings together diverse expertise to build Quick Docs, an innovative solution for accessible information.</a:t>
            </a:r>
            <a:endParaRPr lang="en-US" sz="1450" dirty="0"/>
          </a:p>
        </p:txBody>
      </p:sp>
      <p:sp>
        <p:nvSpPr>
          <p:cNvPr id="5" name="Shape 2"/>
          <p:cNvSpPr/>
          <p:nvPr/>
        </p:nvSpPr>
        <p:spPr>
          <a:xfrm>
            <a:off x="736759" y="2120979"/>
            <a:ext cx="3743087" cy="3005614"/>
          </a:xfrm>
          <a:prstGeom prst="roundRect">
            <a:avLst>
              <a:gd name="adj" fmla="val 9193"/>
            </a:avLst>
          </a:prstGeom>
          <a:solidFill>
            <a:srgbClr val="00002E"/>
          </a:solidFill>
          <a:ln w="22860">
            <a:solidFill>
              <a:srgbClr val="F2B42D"/>
            </a:solidFill>
            <a:prstDash val="solid"/>
          </a:ln>
        </p:spPr>
      </p:sp>
      <p:sp>
        <p:nvSpPr>
          <p:cNvPr id="6" name="Shape 3"/>
          <p:cNvSpPr/>
          <p:nvPr/>
        </p:nvSpPr>
        <p:spPr>
          <a:xfrm>
            <a:off x="943808" y="2328029"/>
            <a:ext cx="552569" cy="552569"/>
          </a:xfrm>
          <a:prstGeom prst="roundRect">
            <a:avLst>
              <a:gd name="adj" fmla="val 16546505"/>
            </a:avLst>
          </a:prstGeom>
          <a:solidFill>
            <a:srgbClr val="F2B42D"/>
          </a:solidFill>
          <a:ln/>
        </p:spPr>
      </p:sp>
      <p:pic>
        <p:nvPicPr>
          <p:cNvPr id="7" name="Image 1" descr="preencoded.png"/>
          <p:cNvPicPr>
            <a:picLocks noChangeAspect="1"/>
          </p:cNvPicPr>
          <p:nvPr/>
        </p:nvPicPr>
        <p:blipFill>
          <a:blip r:embed="rId4"/>
          <a:stretch>
            <a:fillRect/>
          </a:stretch>
        </p:blipFill>
        <p:spPr>
          <a:xfrm>
            <a:off x="1095732" y="2448878"/>
            <a:ext cx="248602" cy="310753"/>
          </a:xfrm>
          <a:prstGeom prst="rect">
            <a:avLst/>
          </a:prstGeom>
        </p:spPr>
      </p:pic>
      <p:sp>
        <p:nvSpPr>
          <p:cNvPr id="8" name="Text 4"/>
          <p:cNvSpPr/>
          <p:nvPr/>
        </p:nvSpPr>
        <p:spPr>
          <a:xfrm>
            <a:off x="943808" y="3064788"/>
            <a:ext cx="2167176" cy="270867"/>
          </a:xfrm>
          <a:prstGeom prst="rect">
            <a:avLst/>
          </a:prstGeom>
          <a:noFill/>
          <a:ln/>
        </p:spPr>
        <p:txBody>
          <a:bodyPr wrap="none" lIns="0" tIns="0" rIns="0" bIns="0" rtlCol="0" anchor="t"/>
          <a:lstStyle/>
          <a:p>
            <a:pPr marL="0" indent="0" algn="l">
              <a:lnSpc>
                <a:spcPts val="2100"/>
              </a:lnSpc>
              <a:buNone/>
            </a:pPr>
            <a:r>
              <a:rPr lang="en-US" sz="1700" dirty="0">
                <a:solidFill>
                  <a:srgbClr val="FFFFFF"/>
                </a:solidFill>
                <a:latin typeface="Nunito Semi Bold" pitchFamily="34" charset="0"/>
                <a:ea typeface="Nunito Semi Bold" pitchFamily="34" charset="-122"/>
                <a:cs typeface="Nunito Semi Bold" pitchFamily="34" charset="-120"/>
              </a:rPr>
              <a:t>Rajeswar Yadav</a:t>
            </a:r>
            <a:endParaRPr lang="en-US" sz="1700" dirty="0"/>
          </a:p>
        </p:txBody>
      </p:sp>
      <p:sp>
        <p:nvSpPr>
          <p:cNvPr id="9" name="Text 5"/>
          <p:cNvSpPr/>
          <p:nvPr/>
        </p:nvSpPr>
        <p:spPr>
          <a:xfrm>
            <a:off x="943808" y="3446145"/>
            <a:ext cx="3328988" cy="1473398"/>
          </a:xfrm>
          <a:prstGeom prst="rect">
            <a:avLst/>
          </a:prstGeom>
          <a:noFill/>
          <a:ln/>
        </p:spPr>
        <p:txBody>
          <a:bodyPr wrap="square" lIns="0" tIns="0" rIns="0" bIns="0" rtlCol="0" anchor="t"/>
          <a:lstStyle/>
          <a:p>
            <a:pPr marL="0" indent="0" algn="l">
              <a:lnSpc>
                <a:spcPts val="2300"/>
              </a:lnSpc>
              <a:buNone/>
            </a:pPr>
            <a:r>
              <a:rPr lang="en-US" sz="1450" b="1" dirty="0">
                <a:solidFill>
                  <a:srgbClr val="FFFFFF"/>
                </a:solidFill>
                <a:latin typeface="PT Sans" pitchFamily="34" charset="0"/>
                <a:ea typeface="PT Sans" pitchFamily="34" charset="-122"/>
                <a:cs typeface="PT Sans" pitchFamily="34" charset="-120"/>
              </a:rPr>
              <a:t>Team Lead: </a:t>
            </a:r>
            <a:r>
              <a:rPr lang="en-US" sz="1450" dirty="0">
                <a:solidFill>
                  <a:srgbClr val="FFFFFF"/>
                </a:solidFill>
                <a:latin typeface="PT Sans" pitchFamily="34" charset="0"/>
                <a:ea typeface="PT Sans" pitchFamily="34" charset="-122"/>
                <a:cs typeface="PT Sans" pitchFamily="34" charset="-120"/>
              </a:rPr>
              <a:t>Manages project, handles full-stack development, ensures architecture alignment, and manages AI, cloud, and security integrations.</a:t>
            </a:r>
            <a:endParaRPr lang="en-US" sz="1450" dirty="0"/>
          </a:p>
        </p:txBody>
      </p:sp>
      <p:sp>
        <p:nvSpPr>
          <p:cNvPr id="10" name="Shape 6"/>
          <p:cNvSpPr/>
          <p:nvPr/>
        </p:nvSpPr>
        <p:spPr>
          <a:xfrm>
            <a:off x="4664035" y="2120979"/>
            <a:ext cx="3743206" cy="3005614"/>
          </a:xfrm>
          <a:prstGeom prst="roundRect">
            <a:avLst>
              <a:gd name="adj" fmla="val 9193"/>
            </a:avLst>
          </a:prstGeom>
          <a:solidFill>
            <a:srgbClr val="00002E"/>
          </a:solidFill>
          <a:ln w="22860">
            <a:solidFill>
              <a:srgbClr val="DD785E"/>
            </a:solidFill>
            <a:prstDash val="solid"/>
          </a:ln>
        </p:spPr>
      </p:sp>
      <p:sp>
        <p:nvSpPr>
          <p:cNvPr id="11" name="Shape 7"/>
          <p:cNvSpPr/>
          <p:nvPr/>
        </p:nvSpPr>
        <p:spPr>
          <a:xfrm>
            <a:off x="4871085" y="2328029"/>
            <a:ext cx="552569" cy="552569"/>
          </a:xfrm>
          <a:prstGeom prst="roundRect">
            <a:avLst>
              <a:gd name="adj" fmla="val 16546505"/>
            </a:avLst>
          </a:prstGeom>
          <a:solidFill>
            <a:srgbClr val="DD785E"/>
          </a:solidFill>
          <a:ln/>
        </p:spPr>
      </p:sp>
      <p:pic>
        <p:nvPicPr>
          <p:cNvPr id="12" name="Image 2" descr="preencoded.png"/>
          <p:cNvPicPr>
            <a:picLocks noChangeAspect="1"/>
          </p:cNvPicPr>
          <p:nvPr/>
        </p:nvPicPr>
        <p:blipFill>
          <a:blip r:embed="rId5"/>
          <a:stretch>
            <a:fillRect/>
          </a:stretch>
        </p:blipFill>
        <p:spPr>
          <a:xfrm>
            <a:off x="5023009" y="2448878"/>
            <a:ext cx="248602" cy="310753"/>
          </a:xfrm>
          <a:prstGeom prst="rect">
            <a:avLst/>
          </a:prstGeom>
        </p:spPr>
      </p:pic>
      <p:sp>
        <p:nvSpPr>
          <p:cNvPr id="13" name="Text 8"/>
          <p:cNvSpPr/>
          <p:nvPr/>
        </p:nvSpPr>
        <p:spPr>
          <a:xfrm>
            <a:off x="4871085" y="3064788"/>
            <a:ext cx="2167176" cy="270867"/>
          </a:xfrm>
          <a:prstGeom prst="rect">
            <a:avLst/>
          </a:prstGeom>
          <a:noFill/>
          <a:ln/>
        </p:spPr>
        <p:txBody>
          <a:bodyPr wrap="none" lIns="0" tIns="0" rIns="0" bIns="0" rtlCol="0" anchor="t"/>
          <a:lstStyle/>
          <a:p>
            <a:pPr marL="0" indent="0" algn="l">
              <a:lnSpc>
                <a:spcPts val="2100"/>
              </a:lnSpc>
              <a:buNone/>
            </a:pPr>
            <a:r>
              <a:rPr lang="en-US" sz="1700" dirty="0">
                <a:solidFill>
                  <a:srgbClr val="FFFFFF"/>
                </a:solidFill>
                <a:latin typeface="Nunito Semi Bold" pitchFamily="34" charset="0"/>
                <a:ea typeface="Nunito Semi Bold" pitchFamily="34" charset="-122"/>
                <a:cs typeface="Nunito Semi Bold" pitchFamily="34" charset="-120"/>
              </a:rPr>
              <a:t>Jyothi Swaroopa</a:t>
            </a:r>
            <a:endParaRPr lang="en-US" sz="1700" dirty="0"/>
          </a:p>
        </p:txBody>
      </p:sp>
      <p:sp>
        <p:nvSpPr>
          <p:cNvPr id="14" name="Text 9"/>
          <p:cNvSpPr/>
          <p:nvPr/>
        </p:nvSpPr>
        <p:spPr>
          <a:xfrm>
            <a:off x="4871085" y="3446145"/>
            <a:ext cx="3329107" cy="1473398"/>
          </a:xfrm>
          <a:prstGeom prst="rect">
            <a:avLst/>
          </a:prstGeom>
          <a:noFill/>
          <a:ln/>
        </p:spPr>
        <p:txBody>
          <a:bodyPr wrap="square" lIns="0" tIns="0" rIns="0" bIns="0" rtlCol="0" anchor="t"/>
          <a:lstStyle/>
          <a:p>
            <a:pPr marL="0" indent="0" algn="l">
              <a:lnSpc>
                <a:spcPts val="2300"/>
              </a:lnSpc>
              <a:buNone/>
            </a:pPr>
            <a:r>
              <a:rPr lang="en-US" sz="1450" b="1" dirty="0">
                <a:solidFill>
                  <a:srgbClr val="FFFFFF"/>
                </a:solidFill>
                <a:latin typeface="PT Sans" pitchFamily="34" charset="0"/>
                <a:ea typeface="PT Sans" pitchFamily="34" charset="-122"/>
                <a:cs typeface="PT Sans" pitchFamily="34" charset="-120"/>
              </a:rPr>
              <a:t>Team Member: </a:t>
            </a:r>
            <a:r>
              <a:rPr lang="en-US" sz="1450" dirty="0">
                <a:solidFill>
                  <a:srgbClr val="FFFFFF"/>
                </a:solidFill>
                <a:latin typeface="PT Sans" pitchFamily="34" charset="0"/>
                <a:ea typeface="PT Sans" pitchFamily="34" charset="-122"/>
                <a:cs typeface="PT Sans" pitchFamily="34" charset="-120"/>
              </a:rPr>
              <a:t>Designs and implements user interface with React Native, focusing on accessibility, multilingual support, and smooth interactions.</a:t>
            </a:r>
            <a:endParaRPr lang="en-US" sz="1450" dirty="0"/>
          </a:p>
        </p:txBody>
      </p:sp>
      <p:sp>
        <p:nvSpPr>
          <p:cNvPr id="15" name="Shape 10"/>
          <p:cNvSpPr/>
          <p:nvPr/>
        </p:nvSpPr>
        <p:spPr>
          <a:xfrm>
            <a:off x="736759" y="5310783"/>
            <a:ext cx="7670483" cy="2416254"/>
          </a:xfrm>
          <a:prstGeom prst="roundRect">
            <a:avLst>
              <a:gd name="adj" fmla="val 11436"/>
            </a:avLst>
          </a:prstGeom>
          <a:solidFill>
            <a:srgbClr val="00002E"/>
          </a:solidFill>
          <a:ln w="22860">
            <a:solidFill>
              <a:srgbClr val="48A8E2"/>
            </a:solidFill>
            <a:prstDash val="solid"/>
          </a:ln>
        </p:spPr>
      </p:sp>
      <p:sp>
        <p:nvSpPr>
          <p:cNvPr id="16" name="Shape 11"/>
          <p:cNvSpPr/>
          <p:nvPr/>
        </p:nvSpPr>
        <p:spPr>
          <a:xfrm>
            <a:off x="943808" y="5517833"/>
            <a:ext cx="552569" cy="552569"/>
          </a:xfrm>
          <a:prstGeom prst="roundRect">
            <a:avLst>
              <a:gd name="adj" fmla="val 16546505"/>
            </a:avLst>
          </a:prstGeom>
          <a:solidFill>
            <a:srgbClr val="48A8E2"/>
          </a:solidFill>
          <a:ln/>
        </p:spPr>
      </p:sp>
      <p:pic>
        <p:nvPicPr>
          <p:cNvPr id="17" name="Image 3" descr="preencoded.png"/>
          <p:cNvPicPr>
            <a:picLocks noChangeAspect="1"/>
          </p:cNvPicPr>
          <p:nvPr/>
        </p:nvPicPr>
        <p:blipFill>
          <a:blip r:embed="rId5"/>
          <a:stretch>
            <a:fillRect/>
          </a:stretch>
        </p:blipFill>
        <p:spPr>
          <a:xfrm>
            <a:off x="1095732" y="5638681"/>
            <a:ext cx="248602" cy="310753"/>
          </a:xfrm>
          <a:prstGeom prst="rect">
            <a:avLst/>
          </a:prstGeom>
        </p:spPr>
      </p:pic>
      <p:sp>
        <p:nvSpPr>
          <p:cNvPr id="18" name="Text 12"/>
          <p:cNvSpPr/>
          <p:nvPr/>
        </p:nvSpPr>
        <p:spPr>
          <a:xfrm>
            <a:off x="943808" y="6254591"/>
            <a:ext cx="2167176" cy="270867"/>
          </a:xfrm>
          <a:prstGeom prst="rect">
            <a:avLst/>
          </a:prstGeom>
          <a:noFill/>
          <a:ln/>
        </p:spPr>
        <p:txBody>
          <a:bodyPr wrap="none" lIns="0" tIns="0" rIns="0" bIns="0" rtlCol="0" anchor="t"/>
          <a:lstStyle/>
          <a:p>
            <a:pPr marL="0" indent="0" algn="l">
              <a:lnSpc>
                <a:spcPts val="2100"/>
              </a:lnSpc>
              <a:buNone/>
            </a:pPr>
            <a:r>
              <a:rPr lang="en-US" sz="1700" dirty="0">
                <a:solidFill>
                  <a:srgbClr val="FFFFFF"/>
                </a:solidFill>
                <a:latin typeface="Nunito Semi Bold" pitchFamily="34" charset="0"/>
                <a:ea typeface="Nunito Semi Bold" pitchFamily="34" charset="-122"/>
                <a:cs typeface="Nunito Semi Bold" pitchFamily="34" charset="-120"/>
              </a:rPr>
              <a:t>Lova Reddy</a:t>
            </a:r>
            <a:endParaRPr lang="en-US" sz="1700" dirty="0"/>
          </a:p>
        </p:txBody>
      </p:sp>
      <p:sp>
        <p:nvSpPr>
          <p:cNvPr id="19" name="Text 13"/>
          <p:cNvSpPr/>
          <p:nvPr/>
        </p:nvSpPr>
        <p:spPr>
          <a:xfrm>
            <a:off x="943808" y="6635948"/>
            <a:ext cx="7256383" cy="884039"/>
          </a:xfrm>
          <a:prstGeom prst="rect">
            <a:avLst/>
          </a:prstGeom>
          <a:noFill/>
          <a:ln/>
        </p:spPr>
        <p:txBody>
          <a:bodyPr wrap="square" lIns="0" tIns="0" rIns="0" bIns="0" rtlCol="0" anchor="t"/>
          <a:lstStyle/>
          <a:p>
            <a:pPr marL="0" indent="0" algn="l">
              <a:lnSpc>
                <a:spcPts val="2300"/>
              </a:lnSpc>
              <a:buNone/>
            </a:pPr>
            <a:r>
              <a:rPr lang="en-US" sz="1450" b="1" dirty="0">
                <a:solidFill>
                  <a:srgbClr val="FFFFFF"/>
                </a:solidFill>
                <a:latin typeface="PT Sans" pitchFamily="34" charset="0"/>
                <a:ea typeface="PT Sans" pitchFamily="34" charset="-122"/>
                <a:cs typeface="PT Sans" pitchFamily="34" charset="-120"/>
              </a:rPr>
              <a:t>Team Member: </a:t>
            </a:r>
            <a:r>
              <a:rPr lang="en-US" sz="1450" dirty="0">
                <a:solidFill>
                  <a:srgbClr val="FFFFFF"/>
                </a:solidFill>
                <a:latin typeface="PT Sans" pitchFamily="34" charset="0"/>
                <a:ea typeface="PT Sans" pitchFamily="34" charset="-122"/>
                <a:cs typeface="PT Sans" pitchFamily="34" charset="-120"/>
              </a:rPr>
              <a:t>Develops secure backend services using Node.js, MongoDB, and cloud integration, implementing encryption and AI pipelines securely.</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0450" y="658654"/>
            <a:ext cx="7663101" cy="1088708"/>
          </a:xfrm>
          <a:prstGeom prst="rect">
            <a:avLst/>
          </a:prstGeom>
          <a:noFill/>
          <a:ln/>
        </p:spPr>
        <p:txBody>
          <a:bodyPr wrap="square" lIns="0" tIns="0" rIns="0" bIns="0" rtlCol="0" anchor="t"/>
          <a:lstStyle/>
          <a:p>
            <a:pPr marL="0" indent="0" algn="l">
              <a:lnSpc>
                <a:spcPts val="4250"/>
              </a:lnSpc>
              <a:buNone/>
            </a:pPr>
            <a:r>
              <a:rPr lang="en-US" sz="3400" dirty="0">
                <a:solidFill>
                  <a:srgbClr val="000000"/>
                </a:solidFill>
                <a:latin typeface="Nunito Semi Bold" pitchFamily="34" charset="0"/>
                <a:ea typeface="Nunito Semi Bold" pitchFamily="34" charset="-122"/>
                <a:cs typeface="Nunito Semi Bold" pitchFamily="34" charset="-120"/>
              </a:rPr>
              <a:t>The Problem: Information Overload &amp; Barriers</a:t>
            </a:r>
            <a:endParaRPr lang="en-US" sz="3400" dirty="0"/>
          </a:p>
        </p:txBody>
      </p:sp>
      <p:sp>
        <p:nvSpPr>
          <p:cNvPr id="4" name="Text 1"/>
          <p:cNvSpPr/>
          <p:nvPr/>
        </p:nvSpPr>
        <p:spPr>
          <a:xfrm>
            <a:off x="740450" y="2025015"/>
            <a:ext cx="7663101" cy="592455"/>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T Sans" pitchFamily="34" charset="0"/>
                <a:ea typeface="PT Sans" pitchFamily="34" charset="-122"/>
                <a:cs typeface="PT Sans" pitchFamily="34" charset="-120"/>
              </a:rPr>
              <a:t>In today's data-driven world, individuals and organizations face significant challenges in accessing and utilizing information.</a:t>
            </a:r>
            <a:endParaRPr lang="en-US" sz="1450" dirty="0"/>
          </a:p>
        </p:txBody>
      </p:sp>
      <p:sp>
        <p:nvSpPr>
          <p:cNvPr id="5" name="Shape 2"/>
          <p:cNvSpPr/>
          <p:nvPr/>
        </p:nvSpPr>
        <p:spPr>
          <a:xfrm>
            <a:off x="740450" y="2825710"/>
            <a:ext cx="3739039" cy="2280047"/>
          </a:xfrm>
          <a:prstGeom prst="roundRect">
            <a:avLst>
              <a:gd name="adj" fmla="val 4813"/>
            </a:avLst>
          </a:prstGeom>
          <a:solidFill>
            <a:srgbClr val="F2F2F2">
              <a:alpha val="75000"/>
            </a:srgbClr>
          </a:solidFill>
          <a:ln w="22860">
            <a:solidFill>
              <a:srgbClr val="D7425E"/>
            </a:solidFill>
            <a:prstDash val="solid"/>
          </a:ln>
        </p:spPr>
      </p:sp>
      <p:sp>
        <p:nvSpPr>
          <p:cNvPr id="6" name="Shape 3"/>
          <p:cNvSpPr/>
          <p:nvPr/>
        </p:nvSpPr>
        <p:spPr>
          <a:xfrm>
            <a:off x="717590" y="2825710"/>
            <a:ext cx="91440" cy="2280047"/>
          </a:xfrm>
          <a:prstGeom prst="roundRect">
            <a:avLst>
              <a:gd name="adj" fmla="val 303671"/>
            </a:avLst>
          </a:prstGeom>
          <a:solidFill>
            <a:srgbClr val="D7425E"/>
          </a:solidFill>
          <a:ln/>
        </p:spPr>
      </p:sp>
      <p:sp>
        <p:nvSpPr>
          <p:cNvPr id="7" name="Text 4"/>
          <p:cNvSpPr/>
          <p:nvPr/>
        </p:nvSpPr>
        <p:spPr>
          <a:xfrm>
            <a:off x="1016913" y="3033593"/>
            <a:ext cx="2895243" cy="272177"/>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Nunito Semi Bold" pitchFamily="34" charset="0"/>
                <a:ea typeface="Nunito Semi Bold" pitchFamily="34" charset="-122"/>
                <a:cs typeface="Nunito Semi Bold" pitchFamily="34" charset="-120"/>
              </a:rPr>
              <a:t>Overwhelmed by Documents</a:t>
            </a:r>
            <a:endParaRPr lang="en-US" sz="1700" dirty="0"/>
          </a:p>
        </p:txBody>
      </p:sp>
      <p:sp>
        <p:nvSpPr>
          <p:cNvPr id="8" name="Text 5"/>
          <p:cNvSpPr/>
          <p:nvPr/>
        </p:nvSpPr>
        <p:spPr>
          <a:xfrm>
            <a:off x="1016913" y="3416737"/>
            <a:ext cx="3254693" cy="1481138"/>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T Sans" pitchFamily="34" charset="0"/>
                <a:ea typeface="PT Sans" pitchFamily="34" charset="-122"/>
                <a:cs typeface="PT Sans" pitchFamily="34" charset="-120"/>
              </a:rPr>
              <a:t>Large volumes of documents, reports, and academic content are scattered across various formats (PDFs, images, text files), making information retrieval time-consuming and inefficient.</a:t>
            </a:r>
            <a:endParaRPr lang="en-US" sz="1450" dirty="0"/>
          </a:p>
        </p:txBody>
      </p:sp>
      <p:sp>
        <p:nvSpPr>
          <p:cNvPr id="9" name="Shape 6"/>
          <p:cNvSpPr/>
          <p:nvPr/>
        </p:nvSpPr>
        <p:spPr>
          <a:xfrm>
            <a:off x="4664512" y="2825710"/>
            <a:ext cx="3739039" cy="2280047"/>
          </a:xfrm>
          <a:prstGeom prst="roundRect">
            <a:avLst>
              <a:gd name="adj" fmla="val 4813"/>
            </a:avLst>
          </a:prstGeom>
          <a:solidFill>
            <a:srgbClr val="F2F2F2">
              <a:alpha val="75000"/>
            </a:srgbClr>
          </a:solidFill>
          <a:ln w="22860">
            <a:solidFill>
              <a:srgbClr val="D7425E"/>
            </a:solidFill>
            <a:prstDash val="solid"/>
          </a:ln>
        </p:spPr>
      </p:sp>
      <p:sp>
        <p:nvSpPr>
          <p:cNvPr id="10" name="Shape 7"/>
          <p:cNvSpPr/>
          <p:nvPr/>
        </p:nvSpPr>
        <p:spPr>
          <a:xfrm>
            <a:off x="4641652" y="2825710"/>
            <a:ext cx="91440" cy="2280047"/>
          </a:xfrm>
          <a:prstGeom prst="roundRect">
            <a:avLst>
              <a:gd name="adj" fmla="val 303671"/>
            </a:avLst>
          </a:prstGeom>
          <a:solidFill>
            <a:srgbClr val="D7425E"/>
          </a:solidFill>
          <a:ln/>
        </p:spPr>
      </p:sp>
      <p:sp>
        <p:nvSpPr>
          <p:cNvPr id="11" name="Text 8"/>
          <p:cNvSpPr/>
          <p:nvPr/>
        </p:nvSpPr>
        <p:spPr>
          <a:xfrm>
            <a:off x="4940975" y="3033593"/>
            <a:ext cx="2549485" cy="272177"/>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Nunito Semi Bold" pitchFamily="34" charset="0"/>
                <a:ea typeface="Nunito Semi Bold" pitchFamily="34" charset="-122"/>
                <a:cs typeface="Nunito Semi Bold" pitchFamily="34" charset="-120"/>
              </a:rPr>
              <a:t>Language &amp; Tech Barriers</a:t>
            </a:r>
            <a:endParaRPr lang="en-US" sz="1700" dirty="0"/>
          </a:p>
        </p:txBody>
      </p:sp>
      <p:sp>
        <p:nvSpPr>
          <p:cNvPr id="12" name="Text 9"/>
          <p:cNvSpPr/>
          <p:nvPr/>
        </p:nvSpPr>
        <p:spPr>
          <a:xfrm>
            <a:off x="4940975" y="3416737"/>
            <a:ext cx="3254693" cy="1481138"/>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T Sans" pitchFamily="34" charset="0"/>
                <a:ea typeface="PT Sans" pitchFamily="34" charset="-122"/>
                <a:cs typeface="PT Sans" pitchFamily="34" charset="-120"/>
              </a:rPr>
              <a:t>Language barriers prevent users from accessing critical information in their native tongue, limiting opportunities and widening inequalities, especially for non-English speakers or those not tech-savvy.</a:t>
            </a:r>
            <a:endParaRPr lang="en-US" sz="1450" dirty="0"/>
          </a:p>
        </p:txBody>
      </p:sp>
      <p:sp>
        <p:nvSpPr>
          <p:cNvPr id="13" name="Shape 10"/>
          <p:cNvSpPr/>
          <p:nvPr/>
        </p:nvSpPr>
        <p:spPr>
          <a:xfrm>
            <a:off x="740450" y="5290780"/>
            <a:ext cx="3739039" cy="2280047"/>
          </a:xfrm>
          <a:prstGeom prst="roundRect">
            <a:avLst>
              <a:gd name="adj" fmla="val 4813"/>
            </a:avLst>
          </a:prstGeom>
          <a:solidFill>
            <a:srgbClr val="F2F2F2">
              <a:alpha val="75000"/>
            </a:srgbClr>
          </a:solidFill>
          <a:ln w="22860">
            <a:solidFill>
              <a:srgbClr val="D7425E"/>
            </a:solidFill>
            <a:prstDash val="solid"/>
          </a:ln>
        </p:spPr>
      </p:sp>
      <p:sp>
        <p:nvSpPr>
          <p:cNvPr id="14" name="Shape 11"/>
          <p:cNvSpPr/>
          <p:nvPr/>
        </p:nvSpPr>
        <p:spPr>
          <a:xfrm>
            <a:off x="717590" y="5290780"/>
            <a:ext cx="91440" cy="2280047"/>
          </a:xfrm>
          <a:prstGeom prst="roundRect">
            <a:avLst>
              <a:gd name="adj" fmla="val 303671"/>
            </a:avLst>
          </a:prstGeom>
          <a:solidFill>
            <a:srgbClr val="D7425E"/>
          </a:solidFill>
          <a:ln/>
        </p:spPr>
      </p:sp>
      <p:sp>
        <p:nvSpPr>
          <p:cNvPr id="15" name="Text 12"/>
          <p:cNvSpPr/>
          <p:nvPr/>
        </p:nvSpPr>
        <p:spPr>
          <a:xfrm>
            <a:off x="1016913" y="5498663"/>
            <a:ext cx="2177772" cy="272177"/>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Nunito Semi Bold" pitchFamily="34" charset="0"/>
                <a:ea typeface="Nunito Semi Bold" pitchFamily="34" charset="-122"/>
                <a:cs typeface="Nunito Semi Bold" pitchFamily="34" charset="-120"/>
              </a:rPr>
              <a:t>Inefficient Search</a:t>
            </a:r>
            <a:endParaRPr lang="en-US" sz="1700" dirty="0"/>
          </a:p>
        </p:txBody>
      </p:sp>
      <p:sp>
        <p:nvSpPr>
          <p:cNvPr id="16" name="Text 13"/>
          <p:cNvSpPr/>
          <p:nvPr/>
        </p:nvSpPr>
        <p:spPr>
          <a:xfrm>
            <a:off x="1016913" y="5881807"/>
            <a:ext cx="3254693" cy="1481138"/>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T Sans" pitchFamily="34" charset="0"/>
                <a:ea typeface="PT Sans" pitchFamily="34" charset="-122"/>
                <a:cs typeface="PT Sans" pitchFamily="34" charset="-120"/>
              </a:rPr>
              <a:t>Searching for specific information, particularly across multiple documents, is a major hurdle, leading to lost productivity and missed opportunities in various sectors.</a:t>
            </a:r>
            <a:endParaRPr lang="en-US" sz="1450" dirty="0"/>
          </a:p>
        </p:txBody>
      </p:sp>
      <p:sp>
        <p:nvSpPr>
          <p:cNvPr id="18" name="Shape 6">
            <a:extLst>
              <a:ext uri="{FF2B5EF4-FFF2-40B4-BE49-F238E27FC236}">
                <a16:creationId xmlns:a16="http://schemas.microsoft.com/office/drawing/2014/main" id="{BDBA5B30-C8D3-3156-8609-729AB73B273E}"/>
              </a:ext>
            </a:extLst>
          </p:cNvPr>
          <p:cNvSpPr/>
          <p:nvPr/>
        </p:nvSpPr>
        <p:spPr>
          <a:xfrm>
            <a:off x="4687372" y="5290780"/>
            <a:ext cx="3739039" cy="2280047"/>
          </a:xfrm>
          <a:prstGeom prst="roundRect">
            <a:avLst>
              <a:gd name="adj" fmla="val 4813"/>
            </a:avLst>
          </a:prstGeom>
          <a:solidFill>
            <a:srgbClr val="F2F2F2">
              <a:alpha val="75000"/>
            </a:srgbClr>
          </a:solidFill>
          <a:ln w="22860">
            <a:solidFill>
              <a:srgbClr val="D7425E"/>
            </a:solidFill>
            <a:prstDash val="solid"/>
          </a:ln>
        </p:spPr>
      </p:sp>
      <p:sp>
        <p:nvSpPr>
          <p:cNvPr id="19" name="Shape 7">
            <a:extLst>
              <a:ext uri="{FF2B5EF4-FFF2-40B4-BE49-F238E27FC236}">
                <a16:creationId xmlns:a16="http://schemas.microsoft.com/office/drawing/2014/main" id="{1D586094-7221-864C-3BEF-6CA02BE75725}"/>
              </a:ext>
            </a:extLst>
          </p:cNvPr>
          <p:cNvSpPr/>
          <p:nvPr/>
        </p:nvSpPr>
        <p:spPr>
          <a:xfrm>
            <a:off x="4664512" y="5302950"/>
            <a:ext cx="91440" cy="2280047"/>
          </a:xfrm>
          <a:prstGeom prst="roundRect">
            <a:avLst>
              <a:gd name="adj" fmla="val 303671"/>
            </a:avLst>
          </a:prstGeom>
          <a:solidFill>
            <a:srgbClr val="D7425E"/>
          </a:solidFill>
          <a:ln/>
        </p:spPr>
      </p:sp>
      <p:sp>
        <p:nvSpPr>
          <p:cNvPr id="20" name="Text 8">
            <a:extLst>
              <a:ext uri="{FF2B5EF4-FFF2-40B4-BE49-F238E27FC236}">
                <a16:creationId xmlns:a16="http://schemas.microsoft.com/office/drawing/2014/main" id="{994C2EE3-DC97-CEEE-93E6-A27F612A6260}"/>
              </a:ext>
            </a:extLst>
          </p:cNvPr>
          <p:cNvSpPr/>
          <p:nvPr/>
        </p:nvSpPr>
        <p:spPr>
          <a:xfrm>
            <a:off x="4963835" y="5510833"/>
            <a:ext cx="3254693" cy="260007"/>
          </a:xfrm>
          <a:prstGeom prst="rect">
            <a:avLst/>
          </a:prstGeom>
          <a:noFill/>
          <a:ln/>
        </p:spPr>
        <p:txBody>
          <a:bodyPr wrap="none" lIns="0" tIns="0" rIns="0" bIns="0" rtlCol="0" anchor="t"/>
          <a:lstStyle/>
          <a:p>
            <a:pPr marL="0" indent="0" algn="l">
              <a:lnSpc>
                <a:spcPts val="2100"/>
              </a:lnSpc>
              <a:buNone/>
            </a:pPr>
            <a:r>
              <a:rPr lang="en-US" sz="1600" dirty="0">
                <a:latin typeface="PT Sans" panose="020B0503020203020204" pitchFamily="34" charset="0"/>
              </a:rPr>
              <a:t>Time taking during Critical Moments</a:t>
            </a:r>
          </a:p>
        </p:txBody>
      </p:sp>
      <p:sp>
        <p:nvSpPr>
          <p:cNvPr id="21" name="Text 9">
            <a:extLst>
              <a:ext uri="{FF2B5EF4-FFF2-40B4-BE49-F238E27FC236}">
                <a16:creationId xmlns:a16="http://schemas.microsoft.com/office/drawing/2014/main" id="{058E3FB6-F681-0FA7-0820-1BD6AA829D38}"/>
              </a:ext>
            </a:extLst>
          </p:cNvPr>
          <p:cNvSpPr/>
          <p:nvPr/>
        </p:nvSpPr>
        <p:spPr>
          <a:xfrm>
            <a:off x="4963835" y="5893977"/>
            <a:ext cx="3254693" cy="1481138"/>
          </a:xfrm>
          <a:prstGeom prst="rect">
            <a:avLst/>
          </a:prstGeom>
          <a:noFill/>
          <a:ln/>
        </p:spPr>
        <p:txBody>
          <a:bodyPr wrap="square" lIns="0" tIns="0" rIns="0" bIns="0" rtlCol="0" anchor="t"/>
          <a:lstStyle/>
          <a:p>
            <a:pPr>
              <a:lnSpc>
                <a:spcPct val="150000"/>
              </a:lnSpc>
            </a:pPr>
            <a:r>
              <a:rPr lang="en-IN" sz="1450" dirty="0">
                <a:latin typeface="PT Sans" panose="020B0503020203020204" pitchFamily="34" charset="0"/>
              </a:rPr>
              <a:t>Information retrieval during emergencies where time is critical.</a:t>
            </a:r>
            <a:r>
              <a:rPr lang="en-IN" dirty="0"/>
              <a:t> </a:t>
            </a:r>
            <a:r>
              <a:rPr lang="en-IN" sz="1450" dirty="0">
                <a:latin typeface="PT Sans" panose="020B0503020203020204" pitchFamily="34" charset="0"/>
              </a:rPr>
              <a:t>Reading entire documents when they only need a small piece of information.</a:t>
            </a:r>
          </a:p>
          <a:p>
            <a:pPr lvl="0">
              <a:lnSpc>
                <a:spcPct val="150000"/>
              </a:lnSpc>
            </a:pPr>
            <a:r>
              <a:rPr lang="en-IN" sz="1450" dirty="0">
                <a:latin typeface="PT Sans" panose="020B0503020203020204"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9238" y="678299"/>
            <a:ext cx="7538323" cy="1180624"/>
          </a:xfrm>
          <a:prstGeom prst="rect">
            <a:avLst/>
          </a:prstGeom>
          <a:noFill/>
          <a:ln/>
        </p:spPr>
        <p:txBody>
          <a:bodyPr wrap="square" lIns="0" tIns="0" rIns="0" bIns="0" rtlCol="0" anchor="t"/>
          <a:lstStyle/>
          <a:p>
            <a:pPr marL="0" indent="0" algn="l">
              <a:lnSpc>
                <a:spcPts val="4600"/>
              </a:lnSpc>
              <a:buNone/>
            </a:pPr>
            <a:r>
              <a:rPr lang="en-US" sz="3700" dirty="0">
                <a:solidFill>
                  <a:srgbClr val="FFFFFF"/>
                </a:solidFill>
                <a:latin typeface="Nunito Semi Bold" pitchFamily="34" charset="0"/>
                <a:ea typeface="Nunito Semi Bold" pitchFamily="34" charset="-122"/>
                <a:cs typeface="Nunito Semi Bold" pitchFamily="34" charset="-120"/>
              </a:rPr>
              <a:t>Introducing Quick Docs: </a:t>
            </a:r>
          </a:p>
          <a:p>
            <a:pPr marL="0" indent="0" algn="l">
              <a:lnSpc>
                <a:spcPts val="4600"/>
              </a:lnSpc>
              <a:buNone/>
            </a:pPr>
            <a:r>
              <a:rPr lang="en-US" sz="3700" dirty="0">
                <a:solidFill>
                  <a:srgbClr val="FFFFFF"/>
                </a:solidFill>
                <a:latin typeface="Nunito Semi Bold" pitchFamily="34" charset="0"/>
                <a:ea typeface="Nunito Semi Bold" pitchFamily="34" charset="-122"/>
                <a:cs typeface="Nunito Semi Bold" pitchFamily="34" charset="-120"/>
              </a:rPr>
              <a:t>Our AI-Powered Solution</a:t>
            </a:r>
            <a:endParaRPr lang="en-US" sz="3700" dirty="0"/>
          </a:p>
        </p:txBody>
      </p:sp>
      <p:sp>
        <p:nvSpPr>
          <p:cNvPr id="4" name="Text 1"/>
          <p:cNvSpPr/>
          <p:nvPr/>
        </p:nvSpPr>
        <p:spPr>
          <a:xfrm>
            <a:off x="6289238" y="2159913"/>
            <a:ext cx="7538323" cy="642223"/>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PT Sans" pitchFamily="34" charset="0"/>
                <a:ea typeface="PT Sans" pitchFamily="34" charset="-122"/>
                <a:cs typeface="PT Sans" pitchFamily="34" charset="-120"/>
              </a:rPr>
              <a:t>Quick Docs is an AI-powered mobile application designed to simplify document access and retrieval, making it inclusive, multilingual, and secure for everyone.</a:t>
            </a:r>
            <a:endParaRPr lang="en-US" sz="1550" dirty="0"/>
          </a:p>
        </p:txBody>
      </p:sp>
      <p:sp>
        <p:nvSpPr>
          <p:cNvPr id="5" name="Shape 2"/>
          <p:cNvSpPr/>
          <p:nvPr/>
        </p:nvSpPr>
        <p:spPr>
          <a:xfrm>
            <a:off x="6289238" y="3027878"/>
            <a:ext cx="802838" cy="1204317"/>
          </a:xfrm>
          <a:prstGeom prst="roundRect">
            <a:avLst>
              <a:gd name="adj" fmla="val 360024"/>
            </a:avLst>
          </a:prstGeom>
          <a:solidFill>
            <a:srgbClr val="00002E"/>
          </a:solidFill>
          <a:ln w="22860">
            <a:solidFill>
              <a:srgbClr val="F2B42D"/>
            </a:solidFill>
            <a:prstDash val="solid"/>
          </a:ln>
        </p:spPr>
      </p:sp>
      <p:sp>
        <p:nvSpPr>
          <p:cNvPr id="6" name="Text 3"/>
          <p:cNvSpPr/>
          <p:nvPr/>
        </p:nvSpPr>
        <p:spPr>
          <a:xfrm>
            <a:off x="6540103" y="3441859"/>
            <a:ext cx="300990" cy="376238"/>
          </a:xfrm>
          <a:prstGeom prst="rect">
            <a:avLst/>
          </a:prstGeom>
          <a:noFill/>
          <a:ln/>
        </p:spPr>
        <p:txBody>
          <a:bodyPr wrap="none" lIns="0" tIns="0" rIns="0" bIns="0" rtlCol="0" anchor="t"/>
          <a:lstStyle/>
          <a:p>
            <a:pPr marL="0" indent="0" algn="l">
              <a:lnSpc>
                <a:spcPts val="2350"/>
              </a:lnSpc>
              <a:buNone/>
            </a:pPr>
            <a:r>
              <a:rPr lang="en-US" sz="2350" dirty="0">
                <a:solidFill>
                  <a:srgbClr val="FFFFFF"/>
                </a:solidFill>
                <a:latin typeface="Nunito Semi Bold" pitchFamily="34" charset="0"/>
                <a:ea typeface="Nunito Semi Bold" pitchFamily="34" charset="-122"/>
                <a:cs typeface="Nunito Semi Bold" pitchFamily="34" charset="-120"/>
              </a:rPr>
              <a:t>1</a:t>
            </a:r>
            <a:endParaRPr lang="en-US" sz="2350" dirty="0"/>
          </a:p>
        </p:txBody>
      </p:sp>
      <p:sp>
        <p:nvSpPr>
          <p:cNvPr id="7" name="Text 4"/>
          <p:cNvSpPr/>
          <p:nvPr/>
        </p:nvSpPr>
        <p:spPr>
          <a:xfrm>
            <a:off x="7292696" y="3103602"/>
            <a:ext cx="2361367" cy="295037"/>
          </a:xfrm>
          <a:prstGeom prst="rect">
            <a:avLst/>
          </a:prstGeom>
          <a:noFill/>
          <a:ln/>
        </p:spPr>
        <p:txBody>
          <a:bodyPr wrap="none" lIns="0" tIns="0" rIns="0" bIns="0" rtlCol="0" anchor="t"/>
          <a:lstStyle/>
          <a:p>
            <a:pPr marL="0" indent="0" algn="l">
              <a:lnSpc>
                <a:spcPts val="2300"/>
              </a:lnSpc>
              <a:buNone/>
            </a:pPr>
            <a:r>
              <a:rPr lang="en-US" sz="1850" dirty="0">
                <a:solidFill>
                  <a:srgbClr val="FFFFFF"/>
                </a:solidFill>
                <a:latin typeface="Nunito Semi Bold" pitchFamily="34" charset="0"/>
                <a:ea typeface="Nunito Semi Bold" pitchFamily="34" charset="-122"/>
                <a:cs typeface="Nunito Semi Bold" pitchFamily="34" charset="-120"/>
              </a:rPr>
              <a:t>Instant Retrieval</a:t>
            </a:r>
            <a:endParaRPr lang="en-US" sz="1850" dirty="0"/>
          </a:p>
        </p:txBody>
      </p:sp>
      <p:sp>
        <p:nvSpPr>
          <p:cNvPr id="8" name="Text 5"/>
          <p:cNvSpPr/>
          <p:nvPr/>
        </p:nvSpPr>
        <p:spPr>
          <a:xfrm>
            <a:off x="7292696" y="3509129"/>
            <a:ext cx="6534864" cy="788908"/>
          </a:xfrm>
          <a:prstGeom prst="rect">
            <a:avLst/>
          </a:prstGeom>
          <a:noFill/>
          <a:ln/>
        </p:spPr>
        <p:txBody>
          <a:bodyPr wrap="none" lIns="0" tIns="0" rIns="0" bIns="0" rtlCol="0" anchor="t"/>
          <a:lstStyle/>
          <a:p>
            <a:pPr>
              <a:lnSpc>
                <a:spcPts val="2500"/>
              </a:lnSpc>
            </a:pPr>
            <a:r>
              <a:rPr lang="en-US" sz="1550" dirty="0">
                <a:solidFill>
                  <a:srgbClr val="FFFFFF"/>
                </a:solidFill>
                <a:latin typeface="PT Sans" pitchFamily="34" charset="0"/>
                <a:ea typeface="PT Sans" pitchFamily="34" charset="-122"/>
                <a:cs typeface="PT Sans" pitchFamily="34" charset="-120"/>
              </a:rPr>
              <a:t>Retrieve information instantly via a text-based AI chatbot or multilingual </a:t>
            </a:r>
          </a:p>
          <a:p>
            <a:pPr>
              <a:lnSpc>
                <a:spcPts val="2500"/>
              </a:lnSpc>
            </a:pPr>
            <a:r>
              <a:rPr lang="en-US" sz="1550" dirty="0">
                <a:solidFill>
                  <a:srgbClr val="FFFFFF"/>
                </a:solidFill>
                <a:latin typeface="PT Sans" pitchFamily="34" charset="0"/>
                <a:ea typeface="PT Sans" pitchFamily="34" charset="-122"/>
                <a:cs typeface="PT Sans" pitchFamily="34" charset="-120"/>
              </a:rPr>
              <a:t>voice assistant (supports Regional Language Talkback ability).</a:t>
            </a:r>
            <a:endParaRPr lang="en-US" sz="1550" dirty="0"/>
          </a:p>
        </p:txBody>
      </p:sp>
      <p:sp>
        <p:nvSpPr>
          <p:cNvPr id="9" name="Shape 6"/>
          <p:cNvSpPr/>
          <p:nvPr/>
        </p:nvSpPr>
        <p:spPr>
          <a:xfrm>
            <a:off x="6289238" y="4432816"/>
            <a:ext cx="802838" cy="1458873"/>
          </a:xfrm>
          <a:prstGeom prst="roundRect">
            <a:avLst>
              <a:gd name="adj" fmla="val 360024"/>
            </a:avLst>
          </a:prstGeom>
          <a:solidFill>
            <a:srgbClr val="00002E"/>
          </a:solidFill>
          <a:ln w="22860">
            <a:solidFill>
              <a:srgbClr val="F2B42D"/>
            </a:solidFill>
            <a:prstDash val="solid"/>
          </a:ln>
        </p:spPr>
      </p:sp>
      <p:sp>
        <p:nvSpPr>
          <p:cNvPr id="10" name="Text 7"/>
          <p:cNvSpPr/>
          <p:nvPr/>
        </p:nvSpPr>
        <p:spPr>
          <a:xfrm>
            <a:off x="6540103" y="4974074"/>
            <a:ext cx="300990" cy="376238"/>
          </a:xfrm>
          <a:prstGeom prst="rect">
            <a:avLst/>
          </a:prstGeom>
          <a:noFill/>
          <a:ln/>
        </p:spPr>
        <p:txBody>
          <a:bodyPr wrap="none" lIns="0" tIns="0" rIns="0" bIns="0" rtlCol="0" anchor="t"/>
          <a:lstStyle/>
          <a:p>
            <a:pPr marL="0" indent="0" algn="l">
              <a:lnSpc>
                <a:spcPts val="2350"/>
              </a:lnSpc>
              <a:buNone/>
            </a:pPr>
            <a:r>
              <a:rPr lang="en-US" sz="2350" dirty="0">
                <a:solidFill>
                  <a:srgbClr val="FFFFFF"/>
                </a:solidFill>
                <a:latin typeface="Nunito Semi Bold" pitchFamily="34" charset="0"/>
                <a:ea typeface="Nunito Semi Bold" pitchFamily="34" charset="-122"/>
                <a:cs typeface="Nunito Semi Bold" pitchFamily="34" charset="-120"/>
              </a:rPr>
              <a:t>2</a:t>
            </a:r>
            <a:endParaRPr lang="en-US" sz="2350" dirty="0"/>
          </a:p>
        </p:txBody>
      </p:sp>
      <p:sp>
        <p:nvSpPr>
          <p:cNvPr id="11" name="Text 8"/>
          <p:cNvSpPr/>
          <p:nvPr/>
        </p:nvSpPr>
        <p:spPr>
          <a:xfrm>
            <a:off x="7292697" y="4633436"/>
            <a:ext cx="2361367" cy="295037"/>
          </a:xfrm>
          <a:prstGeom prst="rect">
            <a:avLst/>
          </a:prstGeom>
          <a:noFill/>
          <a:ln/>
        </p:spPr>
        <p:txBody>
          <a:bodyPr wrap="none" lIns="0" tIns="0" rIns="0" bIns="0" rtlCol="0" anchor="t"/>
          <a:lstStyle/>
          <a:p>
            <a:pPr marL="0" indent="0" algn="l">
              <a:lnSpc>
                <a:spcPts val="2300"/>
              </a:lnSpc>
              <a:buNone/>
            </a:pPr>
            <a:r>
              <a:rPr lang="en-US" sz="1850" dirty="0">
                <a:solidFill>
                  <a:srgbClr val="FFFFFF"/>
                </a:solidFill>
                <a:latin typeface="Nunito Semi Bold" pitchFamily="34" charset="0"/>
                <a:ea typeface="Nunito Semi Bold" pitchFamily="34" charset="-122"/>
                <a:cs typeface="Nunito Semi Bold" pitchFamily="34" charset="-120"/>
              </a:rPr>
              <a:t>Content Indexing</a:t>
            </a:r>
            <a:endParaRPr lang="en-US" sz="1850" dirty="0"/>
          </a:p>
        </p:txBody>
      </p:sp>
      <p:sp>
        <p:nvSpPr>
          <p:cNvPr id="12" name="Text 9"/>
          <p:cNvSpPr/>
          <p:nvPr/>
        </p:nvSpPr>
        <p:spPr>
          <a:xfrm>
            <a:off x="7292697" y="5048845"/>
            <a:ext cx="6534864" cy="642223"/>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PT Sans" pitchFamily="34" charset="0"/>
                <a:ea typeface="PT Sans" pitchFamily="34" charset="-122"/>
                <a:cs typeface="PT Sans" pitchFamily="34" charset="-120"/>
              </a:rPr>
              <a:t>Extract and index content using OCR and Google Cloud’s Vision API for easy search and access by storing them as vector embeddings.</a:t>
            </a:r>
            <a:endParaRPr lang="en-US" sz="1550" dirty="0"/>
          </a:p>
        </p:txBody>
      </p:sp>
      <p:sp>
        <p:nvSpPr>
          <p:cNvPr id="13" name="Shape 10"/>
          <p:cNvSpPr/>
          <p:nvPr/>
        </p:nvSpPr>
        <p:spPr>
          <a:xfrm>
            <a:off x="6289238" y="6092309"/>
            <a:ext cx="802838" cy="1458873"/>
          </a:xfrm>
          <a:prstGeom prst="roundRect">
            <a:avLst>
              <a:gd name="adj" fmla="val 360024"/>
            </a:avLst>
          </a:prstGeom>
          <a:solidFill>
            <a:srgbClr val="00002E"/>
          </a:solidFill>
          <a:ln w="22860">
            <a:solidFill>
              <a:srgbClr val="F2B42D"/>
            </a:solidFill>
            <a:prstDash val="solid"/>
          </a:ln>
        </p:spPr>
      </p:sp>
      <p:sp>
        <p:nvSpPr>
          <p:cNvPr id="14" name="Text 11"/>
          <p:cNvSpPr/>
          <p:nvPr/>
        </p:nvSpPr>
        <p:spPr>
          <a:xfrm>
            <a:off x="6540103" y="6633567"/>
            <a:ext cx="300990" cy="376238"/>
          </a:xfrm>
          <a:prstGeom prst="rect">
            <a:avLst/>
          </a:prstGeom>
          <a:noFill/>
          <a:ln/>
        </p:spPr>
        <p:txBody>
          <a:bodyPr wrap="none" lIns="0" tIns="0" rIns="0" bIns="0" rtlCol="0" anchor="t"/>
          <a:lstStyle/>
          <a:p>
            <a:pPr marL="0" indent="0" algn="l">
              <a:lnSpc>
                <a:spcPts val="2350"/>
              </a:lnSpc>
              <a:buNone/>
            </a:pPr>
            <a:r>
              <a:rPr lang="en-US" sz="2350" dirty="0">
                <a:solidFill>
                  <a:srgbClr val="FFFFFF"/>
                </a:solidFill>
                <a:latin typeface="Nunito Semi Bold" pitchFamily="34" charset="0"/>
                <a:ea typeface="Nunito Semi Bold" pitchFamily="34" charset="-122"/>
                <a:cs typeface="Nunito Semi Bold" pitchFamily="34" charset="-120"/>
              </a:rPr>
              <a:t>3</a:t>
            </a:r>
            <a:endParaRPr lang="en-US" sz="2350" dirty="0"/>
          </a:p>
        </p:txBody>
      </p:sp>
      <p:sp>
        <p:nvSpPr>
          <p:cNvPr id="15" name="Text 12"/>
          <p:cNvSpPr/>
          <p:nvPr/>
        </p:nvSpPr>
        <p:spPr>
          <a:xfrm>
            <a:off x="7292697" y="6292929"/>
            <a:ext cx="2361367" cy="295037"/>
          </a:xfrm>
          <a:prstGeom prst="rect">
            <a:avLst/>
          </a:prstGeom>
          <a:noFill/>
          <a:ln/>
        </p:spPr>
        <p:txBody>
          <a:bodyPr wrap="none" lIns="0" tIns="0" rIns="0" bIns="0" rtlCol="0" anchor="t"/>
          <a:lstStyle/>
          <a:p>
            <a:pPr marL="0" indent="0" algn="l">
              <a:lnSpc>
                <a:spcPts val="2300"/>
              </a:lnSpc>
              <a:buNone/>
            </a:pPr>
            <a:r>
              <a:rPr lang="en-US" sz="1850" dirty="0">
                <a:solidFill>
                  <a:srgbClr val="FFFFFF"/>
                </a:solidFill>
                <a:latin typeface="Nunito Semi Bold" pitchFamily="34" charset="0"/>
                <a:ea typeface="Nunito Semi Bold" pitchFamily="34" charset="-122"/>
                <a:cs typeface="Nunito Semi Bold" pitchFamily="34" charset="-120"/>
              </a:rPr>
              <a:t>Secure Storage</a:t>
            </a:r>
            <a:endParaRPr lang="en-US" sz="1850" dirty="0"/>
          </a:p>
        </p:txBody>
      </p:sp>
      <p:sp>
        <p:nvSpPr>
          <p:cNvPr id="16" name="Text 13"/>
          <p:cNvSpPr/>
          <p:nvPr/>
        </p:nvSpPr>
        <p:spPr>
          <a:xfrm>
            <a:off x="7292697" y="6708338"/>
            <a:ext cx="6534864" cy="642223"/>
          </a:xfrm>
          <a:prstGeom prst="rect">
            <a:avLst/>
          </a:prstGeom>
          <a:noFill/>
          <a:ln/>
        </p:spPr>
        <p:txBody>
          <a:bodyPr wrap="square" lIns="0" tIns="0" rIns="0" bIns="0" rtlCol="0" anchor="t"/>
          <a:lstStyle/>
          <a:p>
            <a:pPr>
              <a:lnSpc>
                <a:spcPts val="2500"/>
              </a:lnSpc>
            </a:pPr>
            <a:r>
              <a:rPr lang="en-US" sz="1550" dirty="0">
                <a:solidFill>
                  <a:srgbClr val="FFFFFF"/>
                </a:solidFill>
                <a:latin typeface="PT Sans" pitchFamily="34" charset="0"/>
                <a:ea typeface="PT Sans" pitchFamily="34" charset="-122"/>
                <a:cs typeface="PT Sans" pitchFamily="34" charset="-120"/>
              </a:rPr>
              <a:t>Upload and store user documents in the supported formats </a:t>
            </a:r>
          </a:p>
          <a:p>
            <a:pPr>
              <a:lnSpc>
                <a:spcPts val="2500"/>
              </a:lnSpc>
            </a:pPr>
            <a:r>
              <a:rPr lang="en-US" sz="1550" dirty="0">
                <a:solidFill>
                  <a:srgbClr val="FFFFFF"/>
                </a:solidFill>
                <a:latin typeface="PT Sans" pitchFamily="34" charset="0"/>
                <a:ea typeface="PT Sans" pitchFamily="34" charset="-122"/>
                <a:cs typeface="PT Sans" pitchFamily="34" charset="-120"/>
              </a:rPr>
              <a:t>( like PDF, JPG, JPEG, PNG, DOCX ) securely on the Google Cloud Platform.</a:t>
            </a:r>
            <a:endParaRPr lang="en-US" sz="1550" dirty="0"/>
          </a:p>
          <a:p>
            <a:pPr marL="0" indent="0" algn="l">
              <a:lnSpc>
                <a:spcPts val="2500"/>
              </a:lnSpc>
              <a:buNone/>
            </a:pPr>
            <a:endParaRPr lang="en-US" sz="1550" dirty="0"/>
          </a:p>
        </p:txBody>
      </p:sp>
      <p:pic>
        <p:nvPicPr>
          <p:cNvPr id="18" name="Picture 17">
            <a:extLst>
              <a:ext uri="{FF2B5EF4-FFF2-40B4-BE49-F238E27FC236}">
                <a16:creationId xmlns:a16="http://schemas.microsoft.com/office/drawing/2014/main" id="{4A61CF0A-0E0C-D7DB-D995-A5FA4AF2119A}"/>
              </a:ext>
            </a:extLst>
          </p:cNvPr>
          <p:cNvPicPr>
            <a:picLocks noChangeAspect="1"/>
          </p:cNvPicPr>
          <p:nvPr/>
        </p:nvPicPr>
        <p:blipFill>
          <a:blip r:embed="rId4"/>
          <a:stretch>
            <a:fillRect/>
          </a:stretch>
        </p:blipFill>
        <p:spPr>
          <a:xfrm>
            <a:off x="12842492" y="7728198"/>
            <a:ext cx="1787908" cy="4191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3291"/>
          </a:xfrm>
          <a:prstGeom prst="rect">
            <a:avLst/>
          </a:prstGeom>
        </p:spPr>
      </p:pic>
      <p:sp>
        <p:nvSpPr>
          <p:cNvPr id="3" name="Text 0"/>
          <p:cNvSpPr/>
          <p:nvPr/>
        </p:nvSpPr>
        <p:spPr>
          <a:xfrm>
            <a:off x="6239589" y="517803"/>
            <a:ext cx="5704284" cy="553760"/>
          </a:xfrm>
          <a:prstGeom prst="rect">
            <a:avLst/>
          </a:prstGeom>
          <a:noFill/>
          <a:ln/>
        </p:spPr>
        <p:txBody>
          <a:bodyPr wrap="none" lIns="0" tIns="0" rIns="0" bIns="0" rtlCol="0" anchor="t"/>
          <a:lstStyle/>
          <a:p>
            <a:pPr marL="0" indent="0" algn="l">
              <a:lnSpc>
                <a:spcPts val="4350"/>
              </a:lnSpc>
              <a:buNone/>
            </a:pPr>
            <a:r>
              <a:rPr lang="en-US" sz="3600" b="1" dirty="0">
                <a:solidFill>
                  <a:schemeClr val="bg1"/>
                </a:solidFill>
                <a:latin typeface="Nunito Semi Bold" pitchFamily="34" charset="0"/>
                <a:ea typeface="Nunito Semi Bold" pitchFamily="34" charset="-122"/>
                <a:cs typeface="Nunito Semi Bold" pitchFamily="34" charset="-120"/>
              </a:rPr>
              <a:t>Key Features: Bridging Gaps</a:t>
            </a:r>
            <a:endParaRPr lang="en-US" sz="3600" b="1" dirty="0">
              <a:solidFill>
                <a:schemeClr val="bg1"/>
              </a:solidFill>
            </a:endParaRPr>
          </a:p>
        </p:txBody>
      </p:sp>
      <p:sp>
        <p:nvSpPr>
          <p:cNvPr id="4" name="Text 1"/>
          <p:cNvSpPr/>
          <p:nvPr/>
        </p:nvSpPr>
        <p:spPr>
          <a:xfrm>
            <a:off x="6239589" y="1353979"/>
            <a:ext cx="7637621" cy="602694"/>
          </a:xfrm>
          <a:prstGeom prst="rect">
            <a:avLst/>
          </a:prstGeom>
          <a:noFill/>
          <a:ln/>
        </p:spPr>
        <p:txBody>
          <a:bodyPr wrap="square" lIns="0" tIns="0" rIns="0" bIns="0" rtlCol="0" anchor="t"/>
          <a:lstStyle/>
          <a:p>
            <a:pPr marL="0" indent="0" algn="l">
              <a:lnSpc>
                <a:spcPts val="2350"/>
              </a:lnSpc>
              <a:buNone/>
            </a:pPr>
            <a:r>
              <a:rPr lang="en-US" b="1" dirty="0">
                <a:solidFill>
                  <a:schemeClr val="bg1"/>
                </a:solidFill>
                <a:latin typeface="PT Sans" pitchFamily="34" charset="0"/>
                <a:ea typeface="PT Sans" pitchFamily="34" charset="-122"/>
                <a:cs typeface="PT Sans" pitchFamily="34" charset="-120"/>
              </a:rPr>
              <a:t>Quick Docs empowers users to access critical data instantly and confidently, irrespective of location, literacy, or language.</a:t>
            </a:r>
            <a:endParaRPr lang="en-US" b="1" dirty="0">
              <a:solidFill>
                <a:schemeClr val="bg1"/>
              </a:solidFill>
            </a:endParaRPr>
          </a:p>
        </p:txBody>
      </p:sp>
      <p:pic>
        <p:nvPicPr>
          <p:cNvPr id="5" name="Image 1" descr="preencoded.png"/>
          <p:cNvPicPr>
            <a:picLocks noChangeAspect="1"/>
          </p:cNvPicPr>
          <p:nvPr/>
        </p:nvPicPr>
        <p:blipFill>
          <a:blip r:embed="rId4"/>
          <a:stretch>
            <a:fillRect/>
          </a:stretch>
        </p:blipFill>
        <p:spPr>
          <a:xfrm>
            <a:off x="6239589" y="2567642"/>
            <a:ext cx="470773" cy="470773"/>
          </a:xfrm>
          <a:prstGeom prst="rect">
            <a:avLst/>
          </a:prstGeom>
        </p:spPr>
      </p:pic>
      <p:sp>
        <p:nvSpPr>
          <p:cNvPr id="6" name="Text 2"/>
          <p:cNvSpPr/>
          <p:nvPr/>
        </p:nvSpPr>
        <p:spPr>
          <a:xfrm>
            <a:off x="6945749" y="2280285"/>
            <a:ext cx="2813447" cy="276939"/>
          </a:xfrm>
          <a:prstGeom prst="rect">
            <a:avLst/>
          </a:prstGeom>
          <a:noFill/>
          <a:ln/>
        </p:spPr>
        <p:txBody>
          <a:bodyPr wrap="none" lIns="0" tIns="0" rIns="0" bIns="0" rtlCol="0" anchor="t"/>
          <a:lstStyle/>
          <a:p>
            <a:pPr marL="0" indent="0" algn="l">
              <a:lnSpc>
                <a:spcPts val="2150"/>
              </a:lnSpc>
              <a:buNone/>
            </a:pPr>
            <a:r>
              <a:rPr lang="en-US" b="1" dirty="0">
                <a:solidFill>
                  <a:schemeClr val="bg1"/>
                </a:solidFill>
                <a:latin typeface="Nunito Semi Bold" pitchFamily="34" charset="0"/>
                <a:ea typeface="Nunito Semi Bold" pitchFamily="34" charset="-122"/>
                <a:cs typeface="Nunito Semi Bold" pitchFamily="34" charset="-120"/>
              </a:rPr>
              <a:t>Multilingual Voice Assistant</a:t>
            </a:r>
            <a:endParaRPr lang="en-US" b="1" dirty="0">
              <a:solidFill>
                <a:schemeClr val="bg1"/>
              </a:solidFill>
            </a:endParaRPr>
          </a:p>
        </p:txBody>
      </p:sp>
      <p:sp>
        <p:nvSpPr>
          <p:cNvPr id="7" name="Text 3"/>
          <p:cNvSpPr/>
          <p:nvPr/>
        </p:nvSpPr>
        <p:spPr>
          <a:xfrm>
            <a:off x="6945749" y="2670096"/>
            <a:ext cx="6931462" cy="602694"/>
          </a:xfrm>
          <a:prstGeom prst="rect">
            <a:avLst/>
          </a:prstGeom>
          <a:noFill/>
          <a:ln/>
        </p:spPr>
        <p:txBody>
          <a:bodyPr wrap="square" lIns="0" tIns="0" rIns="0" bIns="0" rtlCol="0" anchor="t"/>
          <a:lstStyle/>
          <a:p>
            <a:pPr marL="0" indent="0" algn="l">
              <a:lnSpc>
                <a:spcPts val="2350"/>
              </a:lnSpc>
              <a:buNone/>
            </a:pPr>
            <a:r>
              <a:rPr lang="en-US" sz="1600" b="1" dirty="0">
                <a:solidFill>
                  <a:schemeClr val="bg1"/>
                </a:solidFill>
                <a:latin typeface="PT Sans" pitchFamily="34" charset="0"/>
                <a:ea typeface="PT Sans" pitchFamily="34" charset="-122"/>
                <a:cs typeface="PT Sans" pitchFamily="34" charset="-120"/>
              </a:rPr>
              <a:t>Currently supports Telugu, Hindi, and English, with plans for expansion. Communicate naturally without typing.</a:t>
            </a:r>
            <a:endParaRPr lang="en-US" sz="1600" b="1" dirty="0">
              <a:solidFill>
                <a:schemeClr val="bg1"/>
              </a:solidFill>
            </a:endParaRPr>
          </a:p>
        </p:txBody>
      </p:sp>
      <p:pic>
        <p:nvPicPr>
          <p:cNvPr id="8" name="Image 2" descr="preencoded.png"/>
          <p:cNvPicPr>
            <a:picLocks noChangeAspect="1"/>
          </p:cNvPicPr>
          <p:nvPr/>
        </p:nvPicPr>
        <p:blipFill>
          <a:blip r:embed="rId5"/>
          <a:stretch>
            <a:fillRect/>
          </a:stretch>
        </p:blipFill>
        <p:spPr>
          <a:xfrm>
            <a:off x="6239588" y="3981569"/>
            <a:ext cx="470773" cy="470773"/>
          </a:xfrm>
          <a:prstGeom prst="rect">
            <a:avLst/>
          </a:prstGeom>
        </p:spPr>
      </p:pic>
      <p:sp>
        <p:nvSpPr>
          <p:cNvPr id="9" name="Text 4"/>
          <p:cNvSpPr/>
          <p:nvPr/>
        </p:nvSpPr>
        <p:spPr>
          <a:xfrm>
            <a:off x="6945749" y="3761184"/>
            <a:ext cx="2309574" cy="276939"/>
          </a:xfrm>
          <a:prstGeom prst="rect">
            <a:avLst/>
          </a:prstGeom>
          <a:noFill/>
          <a:ln/>
        </p:spPr>
        <p:txBody>
          <a:bodyPr wrap="none" lIns="0" tIns="0" rIns="0" bIns="0" rtlCol="0" anchor="t"/>
          <a:lstStyle/>
          <a:p>
            <a:pPr marL="0" indent="0" algn="l">
              <a:lnSpc>
                <a:spcPts val="2150"/>
              </a:lnSpc>
              <a:buNone/>
            </a:pPr>
            <a:r>
              <a:rPr lang="en-US" b="1" dirty="0">
                <a:solidFill>
                  <a:schemeClr val="bg1"/>
                </a:solidFill>
                <a:latin typeface="Nunito Semi Bold" pitchFamily="34" charset="0"/>
                <a:ea typeface="Nunito Semi Bold" pitchFamily="34" charset="-122"/>
                <a:cs typeface="Nunito Semi Bold" pitchFamily="34" charset="-120"/>
              </a:rPr>
              <a:t>Text-Based AI Chatbot</a:t>
            </a:r>
            <a:endParaRPr lang="en-US" b="1" dirty="0">
              <a:solidFill>
                <a:schemeClr val="bg1"/>
              </a:solidFill>
            </a:endParaRPr>
          </a:p>
        </p:txBody>
      </p:sp>
      <p:sp>
        <p:nvSpPr>
          <p:cNvPr id="10" name="Text 5"/>
          <p:cNvSpPr/>
          <p:nvPr/>
        </p:nvSpPr>
        <p:spPr>
          <a:xfrm>
            <a:off x="6945749" y="4150995"/>
            <a:ext cx="6931462" cy="602694"/>
          </a:xfrm>
          <a:prstGeom prst="rect">
            <a:avLst/>
          </a:prstGeom>
          <a:noFill/>
          <a:ln/>
        </p:spPr>
        <p:txBody>
          <a:bodyPr wrap="square" lIns="0" tIns="0" rIns="0" bIns="0" rtlCol="0" anchor="t"/>
          <a:lstStyle/>
          <a:p>
            <a:pPr marL="0" indent="0" algn="l">
              <a:lnSpc>
                <a:spcPts val="2350"/>
              </a:lnSpc>
              <a:buNone/>
            </a:pPr>
            <a:r>
              <a:rPr lang="en-US" sz="1600" b="1" dirty="0">
                <a:solidFill>
                  <a:schemeClr val="bg1"/>
                </a:solidFill>
                <a:latin typeface="PT Sans" pitchFamily="34" charset="0"/>
                <a:ea typeface="PT Sans" pitchFamily="34" charset="-122"/>
                <a:cs typeface="PT Sans" pitchFamily="34" charset="-120"/>
              </a:rPr>
              <a:t>Engage with an intelligent chatbot for quick and accurate query responses from your documents.</a:t>
            </a:r>
            <a:endParaRPr lang="en-US" sz="1600" b="1" dirty="0">
              <a:solidFill>
                <a:schemeClr val="bg1"/>
              </a:solidFill>
            </a:endParaRPr>
          </a:p>
        </p:txBody>
      </p:sp>
      <p:pic>
        <p:nvPicPr>
          <p:cNvPr id="11" name="Image 3" descr="preencoded.png"/>
          <p:cNvPicPr>
            <a:picLocks noChangeAspect="1"/>
          </p:cNvPicPr>
          <p:nvPr/>
        </p:nvPicPr>
        <p:blipFill>
          <a:blip r:embed="rId6"/>
          <a:stretch>
            <a:fillRect/>
          </a:stretch>
        </p:blipFill>
        <p:spPr>
          <a:xfrm>
            <a:off x="6239589" y="5396507"/>
            <a:ext cx="470773" cy="470773"/>
          </a:xfrm>
          <a:prstGeom prst="rect">
            <a:avLst/>
          </a:prstGeom>
        </p:spPr>
      </p:pic>
      <p:sp>
        <p:nvSpPr>
          <p:cNvPr id="12" name="Text 6"/>
          <p:cNvSpPr/>
          <p:nvPr/>
        </p:nvSpPr>
        <p:spPr>
          <a:xfrm>
            <a:off x="6945749" y="5242084"/>
            <a:ext cx="2215396" cy="276939"/>
          </a:xfrm>
          <a:prstGeom prst="rect">
            <a:avLst/>
          </a:prstGeom>
          <a:noFill/>
          <a:ln/>
        </p:spPr>
        <p:txBody>
          <a:bodyPr wrap="none" lIns="0" tIns="0" rIns="0" bIns="0" rtlCol="0" anchor="t"/>
          <a:lstStyle/>
          <a:p>
            <a:pPr marL="0" indent="0" algn="l">
              <a:lnSpc>
                <a:spcPts val="2150"/>
              </a:lnSpc>
              <a:buNone/>
            </a:pPr>
            <a:r>
              <a:rPr lang="en-US" b="1" dirty="0">
                <a:solidFill>
                  <a:schemeClr val="bg1"/>
                </a:solidFill>
                <a:latin typeface="Nunito Semi Bold" pitchFamily="34" charset="0"/>
                <a:ea typeface="Nunito Semi Bold" pitchFamily="34" charset="-122"/>
                <a:cs typeface="Nunito Semi Bold" pitchFamily="34" charset="-120"/>
              </a:rPr>
              <a:t>Robust Data Security</a:t>
            </a:r>
            <a:endParaRPr lang="en-US" b="1" dirty="0">
              <a:solidFill>
                <a:schemeClr val="bg1"/>
              </a:solidFill>
            </a:endParaRPr>
          </a:p>
        </p:txBody>
      </p:sp>
      <p:sp>
        <p:nvSpPr>
          <p:cNvPr id="13" name="Text 7"/>
          <p:cNvSpPr/>
          <p:nvPr/>
        </p:nvSpPr>
        <p:spPr>
          <a:xfrm>
            <a:off x="6945749" y="5631894"/>
            <a:ext cx="6931462" cy="602694"/>
          </a:xfrm>
          <a:prstGeom prst="rect">
            <a:avLst/>
          </a:prstGeom>
          <a:noFill/>
          <a:ln/>
        </p:spPr>
        <p:txBody>
          <a:bodyPr wrap="square" lIns="0" tIns="0" rIns="0" bIns="0" rtlCol="0" anchor="t"/>
          <a:lstStyle/>
          <a:p>
            <a:pPr marL="0" indent="0" algn="l">
              <a:lnSpc>
                <a:spcPts val="2350"/>
              </a:lnSpc>
              <a:buNone/>
            </a:pPr>
            <a:r>
              <a:rPr lang="en-US" sz="1600" b="1" dirty="0">
                <a:solidFill>
                  <a:schemeClr val="bg1"/>
                </a:solidFill>
                <a:latin typeface="PT Sans" pitchFamily="34" charset="0"/>
                <a:ea typeface="PT Sans" pitchFamily="34" charset="-122"/>
                <a:cs typeface="PT Sans" pitchFamily="34" charset="-120"/>
              </a:rPr>
              <a:t>Ensures data privacy by encrypting sensitive information using AES standards, protecting your valuable content.</a:t>
            </a:r>
            <a:endParaRPr lang="en-US" sz="1600" b="1" dirty="0">
              <a:solidFill>
                <a:schemeClr val="bg1"/>
              </a:solidFill>
            </a:endParaRPr>
          </a:p>
        </p:txBody>
      </p:sp>
      <p:pic>
        <p:nvPicPr>
          <p:cNvPr id="14" name="Image 4" descr="preencoded.png"/>
          <p:cNvPicPr>
            <a:picLocks noChangeAspect="1"/>
          </p:cNvPicPr>
          <p:nvPr/>
        </p:nvPicPr>
        <p:blipFill>
          <a:blip r:embed="rId7"/>
          <a:stretch>
            <a:fillRect/>
          </a:stretch>
        </p:blipFill>
        <p:spPr>
          <a:xfrm>
            <a:off x="6239589" y="6891575"/>
            <a:ext cx="470773" cy="470773"/>
          </a:xfrm>
          <a:prstGeom prst="rect">
            <a:avLst/>
          </a:prstGeom>
        </p:spPr>
      </p:pic>
      <p:sp>
        <p:nvSpPr>
          <p:cNvPr id="15" name="Text 8"/>
          <p:cNvSpPr/>
          <p:nvPr/>
        </p:nvSpPr>
        <p:spPr>
          <a:xfrm>
            <a:off x="6945749" y="6722983"/>
            <a:ext cx="2215396" cy="276939"/>
          </a:xfrm>
          <a:prstGeom prst="rect">
            <a:avLst/>
          </a:prstGeom>
          <a:noFill/>
          <a:ln/>
        </p:spPr>
        <p:txBody>
          <a:bodyPr wrap="none" lIns="0" tIns="0" rIns="0" bIns="0" rtlCol="0" anchor="t"/>
          <a:lstStyle/>
          <a:p>
            <a:pPr marL="0" indent="0" algn="l">
              <a:lnSpc>
                <a:spcPts val="2150"/>
              </a:lnSpc>
              <a:buNone/>
            </a:pPr>
            <a:r>
              <a:rPr lang="en-US" b="1" dirty="0">
                <a:solidFill>
                  <a:schemeClr val="bg1"/>
                </a:solidFill>
                <a:latin typeface="Nunito Semi Bold" pitchFamily="34" charset="0"/>
                <a:ea typeface="Nunito Semi Bold" pitchFamily="34" charset="-122"/>
                <a:cs typeface="Nunito Semi Bold" pitchFamily="34" charset="-120"/>
              </a:rPr>
              <a:t>Premium Services</a:t>
            </a:r>
            <a:endParaRPr lang="en-US" b="1" dirty="0">
              <a:solidFill>
                <a:schemeClr val="bg1"/>
              </a:solidFill>
            </a:endParaRPr>
          </a:p>
        </p:txBody>
      </p:sp>
      <p:sp>
        <p:nvSpPr>
          <p:cNvPr id="16" name="Text 9"/>
          <p:cNvSpPr/>
          <p:nvPr/>
        </p:nvSpPr>
        <p:spPr>
          <a:xfrm>
            <a:off x="6945749" y="7112794"/>
            <a:ext cx="6931462" cy="602694"/>
          </a:xfrm>
          <a:prstGeom prst="rect">
            <a:avLst/>
          </a:prstGeom>
          <a:noFill/>
          <a:ln/>
        </p:spPr>
        <p:txBody>
          <a:bodyPr wrap="square" lIns="0" tIns="0" rIns="0" bIns="0" rtlCol="0" anchor="t"/>
          <a:lstStyle/>
          <a:p>
            <a:pPr marL="0" indent="0" algn="l">
              <a:lnSpc>
                <a:spcPts val="2350"/>
              </a:lnSpc>
              <a:buNone/>
            </a:pPr>
            <a:r>
              <a:rPr lang="en-US" sz="1600" b="1" dirty="0">
                <a:solidFill>
                  <a:schemeClr val="bg1"/>
                </a:solidFill>
                <a:latin typeface="PT Sans" pitchFamily="34" charset="0"/>
                <a:ea typeface="PT Sans" pitchFamily="34" charset="-122"/>
                <a:cs typeface="PT Sans" pitchFamily="34" charset="-120"/>
              </a:rPr>
              <a:t>Offers prioritized access and enhanced features like advanced voice interaction for premium users.</a:t>
            </a:r>
            <a:endParaRPr lang="en-US" sz="1600" b="1" dirty="0">
              <a:solidFill>
                <a:schemeClr val="bg1"/>
              </a:solidFill>
            </a:endParaRPr>
          </a:p>
        </p:txBody>
      </p:sp>
      <p:pic>
        <p:nvPicPr>
          <p:cNvPr id="18" name="Picture 17">
            <a:extLst>
              <a:ext uri="{FF2B5EF4-FFF2-40B4-BE49-F238E27FC236}">
                <a16:creationId xmlns:a16="http://schemas.microsoft.com/office/drawing/2014/main" id="{593572FD-96D7-B07B-DF12-DAE0C43A2E77}"/>
              </a:ext>
            </a:extLst>
          </p:cNvPr>
          <p:cNvPicPr>
            <a:picLocks noChangeAspect="1"/>
          </p:cNvPicPr>
          <p:nvPr/>
        </p:nvPicPr>
        <p:blipFill>
          <a:blip r:embed="rId8"/>
          <a:stretch>
            <a:fillRect/>
          </a:stretch>
        </p:blipFill>
        <p:spPr>
          <a:xfrm>
            <a:off x="12759859" y="7680702"/>
            <a:ext cx="1792482" cy="4373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4490" y="472440"/>
            <a:ext cx="5060871" cy="503277"/>
          </a:xfrm>
          <a:prstGeom prst="rect">
            <a:avLst/>
          </a:prstGeom>
          <a:noFill/>
          <a:ln/>
        </p:spPr>
        <p:txBody>
          <a:bodyPr wrap="none" lIns="0" tIns="0" rIns="0" bIns="0" rtlCol="0" anchor="t"/>
          <a:lstStyle/>
          <a:p>
            <a:pPr marL="0" indent="0" algn="l">
              <a:lnSpc>
                <a:spcPts val="3950"/>
              </a:lnSpc>
              <a:buNone/>
            </a:pPr>
            <a:r>
              <a:rPr lang="en-US" sz="3150" dirty="0">
                <a:solidFill>
                  <a:srgbClr val="FFFFFF"/>
                </a:solidFill>
                <a:latin typeface="Nunito Semi Bold" pitchFamily="34" charset="0"/>
                <a:ea typeface="Nunito Semi Bold" pitchFamily="34" charset="-122"/>
                <a:cs typeface="Nunito Semi Bold" pitchFamily="34" charset="-120"/>
              </a:rPr>
              <a:t>Expected Impact &amp; Benefits</a:t>
            </a:r>
            <a:endParaRPr lang="en-US" sz="3150" dirty="0"/>
          </a:p>
        </p:txBody>
      </p:sp>
      <p:sp>
        <p:nvSpPr>
          <p:cNvPr id="3" name="Text 1"/>
          <p:cNvSpPr/>
          <p:nvPr/>
        </p:nvSpPr>
        <p:spPr>
          <a:xfrm>
            <a:off x="684490" y="1317903"/>
            <a:ext cx="13261419" cy="273725"/>
          </a:xfrm>
          <a:prstGeom prst="rect">
            <a:avLst/>
          </a:prstGeom>
          <a:noFill/>
          <a:ln/>
        </p:spPr>
        <p:txBody>
          <a:bodyPr wrap="none" lIns="0" tIns="0" rIns="0" bIns="0" rtlCol="0" anchor="t"/>
          <a:lstStyle/>
          <a:p>
            <a:pPr marL="0" indent="0" algn="l">
              <a:lnSpc>
                <a:spcPts val="2150"/>
              </a:lnSpc>
              <a:buNone/>
            </a:pPr>
            <a:r>
              <a:rPr lang="en-US" sz="1300" dirty="0">
                <a:solidFill>
                  <a:srgbClr val="FFFFFF"/>
                </a:solidFill>
                <a:latin typeface="PT Sans" pitchFamily="34" charset="0"/>
                <a:ea typeface="PT Sans" pitchFamily="34" charset="-122"/>
                <a:cs typeface="PT Sans" pitchFamily="34" charset="-120"/>
              </a:rPr>
              <a:t>Quick Docs is set to transform how people interact with information, fostering a more equitable and productive society.</a:t>
            </a:r>
            <a:endParaRPr lang="en-US" sz="1300" dirty="0"/>
          </a:p>
        </p:txBody>
      </p:sp>
      <p:sp>
        <p:nvSpPr>
          <p:cNvPr id="4" name="Shape 2"/>
          <p:cNvSpPr/>
          <p:nvPr/>
        </p:nvSpPr>
        <p:spPr>
          <a:xfrm>
            <a:off x="684490" y="1784152"/>
            <a:ext cx="385048" cy="385048"/>
          </a:xfrm>
          <a:prstGeom prst="roundRect">
            <a:avLst>
              <a:gd name="adj" fmla="val 66672"/>
            </a:avLst>
          </a:prstGeom>
          <a:solidFill>
            <a:srgbClr val="00002E"/>
          </a:solidFill>
          <a:ln w="15240">
            <a:solidFill>
              <a:srgbClr val="F2B42D"/>
            </a:solidFill>
            <a:prstDash val="solid"/>
          </a:ln>
        </p:spPr>
      </p:sp>
      <p:sp>
        <p:nvSpPr>
          <p:cNvPr id="5" name="Text 3"/>
          <p:cNvSpPr/>
          <p:nvPr/>
        </p:nvSpPr>
        <p:spPr>
          <a:xfrm>
            <a:off x="1240631" y="1816179"/>
            <a:ext cx="2416135" cy="301943"/>
          </a:xfrm>
          <a:prstGeom prst="rect">
            <a:avLst/>
          </a:prstGeom>
          <a:noFill/>
          <a:ln/>
        </p:spPr>
        <p:txBody>
          <a:bodyPr wrap="none" lIns="0" tIns="0" rIns="0" bIns="0" rtlCol="0" anchor="t"/>
          <a:lstStyle/>
          <a:p>
            <a:pPr marL="0" indent="0" algn="l">
              <a:lnSpc>
                <a:spcPts val="2350"/>
              </a:lnSpc>
              <a:buNone/>
            </a:pPr>
            <a:r>
              <a:rPr lang="en-US" sz="1900" dirty="0">
                <a:solidFill>
                  <a:srgbClr val="F2B42D"/>
                </a:solidFill>
                <a:latin typeface="Nunito Semi Bold" pitchFamily="34" charset="0"/>
                <a:ea typeface="Nunito Semi Bold" pitchFamily="34" charset="-122"/>
                <a:cs typeface="Nunito Semi Bold" pitchFamily="34" charset="-120"/>
              </a:rPr>
              <a:t>Inclusion</a:t>
            </a:r>
            <a:endParaRPr lang="en-US" sz="1900" dirty="0"/>
          </a:p>
        </p:txBody>
      </p:sp>
      <p:sp>
        <p:nvSpPr>
          <p:cNvPr id="6" name="Text 4"/>
          <p:cNvSpPr/>
          <p:nvPr/>
        </p:nvSpPr>
        <p:spPr>
          <a:xfrm>
            <a:off x="1240631" y="2220754"/>
            <a:ext cx="12705278" cy="273725"/>
          </a:xfrm>
          <a:prstGeom prst="rect">
            <a:avLst/>
          </a:prstGeom>
          <a:noFill/>
          <a:ln/>
        </p:spPr>
        <p:txBody>
          <a:bodyPr wrap="none" lIns="0" tIns="0" rIns="0" bIns="0" rtlCol="0" anchor="t"/>
          <a:lstStyle/>
          <a:p>
            <a:pPr marL="0" indent="0" algn="l">
              <a:lnSpc>
                <a:spcPts val="2150"/>
              </a:lnSpc>
              <a:buNone/>
            </a:pPr>
            <a:r>
              <a:rPr lang="en-US" sz="1300" dirty="0">
                <a:solidFill>
                  <a:srgbClr val="FFFFFF"/>
                </a:solidFill>
                <a:latin typeface="PT Sans" pitchFamily="34" charset="0"/>
                <a:ea typeface="PT Sans" pitchFamily="34" charset="-122"/>
                <a:cs typeface="PT Sans" pitchFamily="34" charset="-120"/>
              </a:rPr>
              <a:t>Breaks language barriers with multilingual voice support, making information accessible to diverse communities.</a:t>
            </a:r>
            <a:endParaRPr lang="en-US" sz="1300" dirty="0"/>
          </a:p>
        </p:txBody>
      </p:sp>
      <p:sp>
        <p:nvSpPr>
          <p:cNvPr id="7" name="Shape 5"/>
          <p:cNvSpPr/>
          <p:nvPr/>
        </p:nvSpPr>
        <p:spPr>
          <a:xfrm>
            <a:off x="684490" y="2836664"/>
            <a:ext cx="385048" cy="385048"/>
          </a:xfrm>
          <a:prstGeom prst="roundRect">
            <a:avLst>
              <a:gd name="adj" fmla="val 66672"/>
            </a:avLst>
          </a:prstGeom>
          <a:solidFill>
            <a:srgbClr val="00002E"/>
          </a:solidFill>
          <a:ln w="15240">
            <a:solidFill>
              <a:srgbClr val="D7425E"/>
            </a:solidFill>
            <a:prstDash val="solid"/>
          </a:ln>
        </p:spPr>
      </p:sp>
      <p:sp>
        <p:nvSpPr>
          <p:cNvPr id="8" name="Text 6"/>
          <p:cNvSpPr/>
          <p:nvPr/>
        </p:nvSpPr>
        <p:spPr>
          <a:xfrm>
            <a:off x="1240631" y="2868692"/>
            <a:ext cx="2416135" cy="301943"/>
          </a:xfrm>
          <a:prstGeom prst="rect">
            <a:avLst/>
          </a:prstGeom>
          <a:noFill/>
          <a:ln/>
        </p:spPr>
        <p:txBody>
          <a:bodyPr wrap="none" lIns="0" tIns="0" rIns="0" bIns="0" rtlCol="0" anchor="t"/>
          <a:lstStyle/>
          <a:p>
            <a:pPr marL="0" indent="0" algn="l">
              <a:lnSpc>
                <a:spcPts val="2350"/>
              </a:lnSpc>
              <a:buNone/>
            </a:pPr>
            <a:r>
              <a:rPr lang="en-US" sz="1900" dirty="0">
                <a:solidFill>
                  <a:srgbClr val="F2B42D"/>
                </a:solidFill>
                <a:latin typeface="Nunito Semi Bold" pitchFamily="34" charset="0"/>
                <a:ea typeface="Nunito Semi Bold" pitchFamily="34" charset="-122"/>
                <a:cs typeface="Nunito Semi Bold" pitchFamily="34" charset="-120"/>
              </a:rPr>
              <a:t>Efficiency</a:t>
            </a:r>
            <a:endParaRPr lang="en-US" sz="1900" dirty="0"/>
          </a:p>
        </p:txBody>
      </p:sp>
      <p:sp>
        <p:nvSpPr>
          <p:cNvPr id="9" name="Text 7"/>
          <p:cNvSpPr/>
          <p:nvPr/>
        </p:nvSpPr>
        <p:spPr>
          <a:xfrm>
            <a:off x="1240631" y="3273266"/>
            <a:ext cx="12705278" cy="273725"/>
          </a:xfrm>
          <a:prstGeom prst="rect">
            <a:avLst/>
          </a:prstGeom>
          <a:noFill/>
          <a:ln/>
        </p:spPr>
        <p:txBody>
          <a:bodyPr wrap="none" lIns="0" tIns="0" rIns="0" bIns="0" rtlCol="0" anchor="t"/>
          <a:lstStyle/>
          <a:p>
            <a:pPr marL="0" indent="0" algn="l">
              <a:lnSpc>
                <a:spcPts val="2150"/>
              </a:lnSpc>
              <a:buNone/>
            </a:pPr>
            <a:r>
              <a:rPr lang="en-US" sz="1300" dirty="0">
                <a:solidFill>
                  <a:srgbClr val="FFFFFF"/>
                </a:solidFill>
                <a:latin typeface="PT Sans" pitchFamily="34" charset="0"/>
                <a:ea typeface="PT Sans" pitchFamily="34" charset="-122"/>
                <a:cs typeface="PT Sans" pitchFamily="34" charset="-120"/>
              </a:rPr>
              <a:t>Reduces time spent searching documents, significantly improving productivity for individuals and organizations.</a:t>
            </a:r>
            <a:endParaRPr lang="en-US" sz="1300" dirty="0"/>
          </a:p>
        </p:txBody>
      </p:sp>
      <p:sp>
        <p:nvSpPr>
          <p:cNvPr id="10" name="Shape 8"/>
          <p:cNvSpPr/>
          <p:nvPr/>
        </p:nvSpPr>
        <p:spPr>
          <a:xfrm>
            <a:off x="684490" y="3889177"/>
            <a:ext cx="385048" cy="385048"/>
          </a:xfrm>
          <a:prstGeom prst="roundRect">
            <a:avLst>
              <a:gd name="adj" fmla="val 66672"/>
            </a:avLst>
          </a:prstGeom>
          <a:solidFill>
            <a:srgbClr val="00002E"/>
          </a:solidFill>
          <a:ln w="15240">
            <a:solidFill>
              <a:srgbClr val="DD785E"/>
            </a:solidFill>
            <a:prstDash val="solid"/>
          </a:ln>
        </p:spPr>
      </p:sp>
      <p:sp>
        <p:nvSpPr>
          <p:cNvPr id="11" name="Text 9"/>
          <p:cNvSpPr/>
          <p:nvPr/>
        </p:nvSpPr>
        <p:spPr>
          <a:xfrm>
            <a:off x="1240631" y="3921204"/>
            <a:ext cx="2416135" cy="301943"/>
          </a:xfrm>
          <a:prstGeom prst="rect">
            <a:avLst/>
          </a:prstGeom>
          <a:noFill/>
          <a:ln/>
        </p:spPr>
        <p:txBody>
          <a:bodyPr wrap="none" lIns="0" tIns="0" rIns="0" bIns="0" rtlCol="0" anchor="t"/>
          <a:lstStyle/>
          <a:p>
            <a:pPr marL="0" indent="0" algn="l">
              <a:lnSpc>
                <a:spcPts val="2350"/>
              </a:lnSpc>
              <a:buNone/>
            </a:pPr>
            <a:r>
              <a:rPr lang="en-US" sz="1900" dirty="0">
                <a:solidFill>
                  <a:srgbClr val="F2B42D"/>
                </a:solidFill>
                <a:latin typeface="Nunito Semi Bold" pitchFamily="34" charset="0"/>
                <a:ea typeface="Nunito Semi Bold" pitchFamily="34" charset="-122"/>
                <a:cs typeface="Nunito Semi Bold" pitchFamily="34" charset="-120"/>
              </a:rPr>
              <a:t>Accessibility</a:t>
            </a:r>
            <a:endParaRPr lang="en-US" sz="1900" dirty="0"/>
          </a:p>
        </p:txBody>
      </p:sp>
      <p:sp>
        <p:nvSpPr>
          <p:cNvPr id="12" name="Text 10"/>
          <p:cNvSpPr/>
          <p:nvPr/>
        </p:nvSpPr>
        <p:spPr>
          <a:xfrm>
            <a:off x="1240631" y="4325779"/>
            <a:ext cx="12705278" cy="273725"/>
          </a:xfrm>
          <a:prstGeom prst="rect">
            <a:avLst/>
          </a:prstGeom>
          <a:noFill/>
          <a:ln/>
        </p:spPr>
        <p:txBody>
          <a:bodyPr wrap="none" lIns="0" tIns="0" rIns="0" bIns="0" rtlCol="0" anchor="t"/>
          <a:lstStyle/>
          <a:p>
            <a:pPr marL="0" indent="0" algn="l">
              <a:lnSpc>
                <a:spcPts val="2150"/>
              </a:lnSpc>
              <a:buNone/>
            </a:pPr>
            <a:r>
              <a:rPr lang="en-US" sz="1300" dirty="0">
                <a:solidFill>
                  <a:srgbClr val="FFFFFF"/>
                </a:solidFill>
                <a:latin typeface="PT Sans" pitchFamily="34" charset="0"/>
                <a:ea typeface="PT Sans" pitchFamily="34" charset="-122"/>
                <a:cs typeface="PT Sans" pitchFamily="34" charset="-120"/>
              </a:rPr>
              <a:t>Democratizes access to educational, medical, and governmental information for all, regardless of literacy or location.</a:t>
            </a:r>
            <a:endParaRPr lang="en-US" sz="1300" dirty="0"/>
          </a:p>
        </p:txBody>
      </p:sp>
      <p:sp>
        <p:nvSpPr>
          <p:cNvPr id="13" name="Shape 11"/>
          <p:cNvSpPr/>
          <p:nvPr/>
        </p:nvSpPr>
        <p:spPr>
          <a:xfrm>
            <a:off x="684490" y="4941689"/>
            <a:ext cx="385048" cy="385048"/>
          </a:xfrm>
          <a:prstGeom prst="roundRect">
            <a:avLst>
              <a:gd name="adj" fmla="val 66672"/>
            </a:avLst>
          </a:prstGeom>
          <a:solidFill>
            <a:srgbClr val="00002E"/>
          </a:solidFill>
          <a:ln w="15240">
            <a:solidFill>
              <a:srgbClr val="48A8E2"/>
            </a:solidFill>
            <a:prstDash val="solid"/>
          </a:ln>
        </p:spPr>
      </p:sp>
      <p:sp>
        <p:nvSpPr>
          <p:cNvPr id="14" name="Text 12"/>
          <p:cNvSpPr/>
          <p:nvPr/>
        </p:nvSpPr>
        <p:spPr>
          <a:xfrm>
            <a:off x="1240631" y="4973717"/>
            <a:ext cx="2416135" cy="301943"/>
          </a:xfrm>
          <a:prstGeom prst="rect">
            <a:avLst/>
          </a:prstGeom>
          <a:noFill/>
          <a:ln/>
        </p:spPr>
        <p:txBody>
          <a:bodyPr wrap="none" lIns="0" tIns="0" rIns="0" bIns="0" rtlCol="0" anchor="t"/>
          <a:lstStyle/>
          <a:p>
            <a:pPr marL="0" indent="0" algn="l">
              <a:lnSpc>
                <a:spcPts val="2350"/>
              </a:lnSpc>
              <a:buNone/>
            </a:pPr>
            <a:r>
              <a:rPr lang="en-US" sz="1900" dirty="0">
                <a:solidFill>
                  <a:srgbClr val="F2B42D"/>
                </a:solidFill>
                <a:latin typeface="Nunito Semi Bold" pitchFamily="34" charset="0"/>
                <a:ea typeface="Nunito Semi Bold" pitchFamily="34" charset="-122"/>
                <a:cs typeface="Nunito Semi Bold" pitchFamily="34" charset="-120"/>
              </a:rPr>
              <a:t>Security</a:t>
            </a:r>
            <a:endParaRPr lang="en-US" sz="1900" dirty="0"/>
          </a:p>
        </p:txBody>
      </p:sp>
      <p:sp>
        <p:nvSpPr>
          <p:cNvPr id="15" name="Text 13"/>
          <p:cNvSpPr/>
          <p:nvPr/>
        </p:nvSpPr>
        <p:spPr>
          <a:xfrm>
            <a:off x="1240631" y="5378291"/>
            <a:ext cx="12705278" cy="273725"/>
          </a:xfrm>
          <a:prstGeom prst="rect">
            <a:avLst/>
          </a:prstGeom>
          <a:noFill/>
          <a:ln/>
        </p:spPr>
        <p:txBody>
          <a:bodyPr wrap="none" lIns="0" tIns="0" rIns="0" bIns="0" rtlCol="0" anchor="t"/>
          <a:lstStyle/>
          <a:p>
            <a:pPr marL="0" indent="0" algn="l">
              <a:lnSpc>
                <a:spcPts val="2150"/>
              </a:lnSpc>
              <a:buNone/>
            </a:pPr>
            <a:r>
              <a:rPr lang="en-US" sz="1300" dirty="0">
                <a:solidFill>
                  <a:srgbClr val="FFFFFF"/>
                </a:solidFill>
                <a:latin typeface="PT Sans" pitchFamily="34" charset="0"/>
                <a:ea typeface="PT Sans" pitchFamily="34" charset="-122"/>
                <a:cs typeface="PT Sans" pitchFamily="34" charset="-120"/>
              </a:rPr>
              <a:t>Protects sensitive data through advanced encryption standards, ensuring user privacy and trust.</a:t>
            </a:r>
            <a:endParaRPr lang="en-US" sz="1300" dirty="0"/>
          </a:p>
        </p:txBody>
      </p:sp>
      <p:sp>
        <p:nvSpPr>
          <p:cNvPr id="16" name="Shape 14"/>
          <p:cNvSpPr/>
          <p:nvPr/>
        </p:nvSpPr>
        <p:spPr>
          <a:xfrm>
            <a:off x="684490" y="5994202"/>
            <a:ext cx="385048" cy="385048"/>
          </a:xfrm>
          <a:prstGeom prst="roundRect">
            <a:avLst>
              <a:gd name="adj" fmla="val 66672"/>
            </a:avLst>
          </a:prstGeom>
          <a:solidFill>
            <a:srgbClr val="00002E"/>
          </a:solidFill>
          <a:ln w="15240">
            <a:solidFill>
              <a:srgbClr val="59ABA9"/>
            </a:solidFill>
            <a:prstDash val="solid"/>
          </a:ln>
        </p:spPr>
      </p:sp>
      <p:sp>
        <p:nvSpPr>
          <p:cNvPr id="17" name="Text 15"/>
          <p:cNvSpPr/>
          <p:nvPr/>
        </p:nvSpPr>
        <p:spPr>
          <a:xfrm>
            <a:off x="1240631" y="6026229"/>
            <a:ext cx="2416135" cy="301943"/>
          </a:xfrm>
          <a:prstGeom prst="rect">
            <a:avLst/>
          </a:prstGeom>
          <a:noFill/>
          <a:ln/>
        </p:spPr>
        <p:txBody>
          <a:bodyPr wrap="none" lIns="0" tIns="0" rIns="0" bIns="0" rtlCol="0" anchor="t"/>
          <a:lstStyle/>
          <a:p>
            <a:pPr marL="0" indent="0" algn="l">
              <a:lnSpc>
                <a:spcPts val="2350"/>
              </a:lnSpc>
              <a:buNone/>
            </a:pPr>
            <a:r>
              <a:rPr lang="en-US" sz="1900" dirty="0">
                <a:solidFill>
                  <a:srgbClr val="F2B42D"/>
                </a:solidFill>
                <a:latin typeface="Nunito Semi Bold" pitchFamily="34" charset="0"/>
                <a:ea typeface="Nunito Semi Bold" pitchFamily="34" charset="-122"/>
                <a:cs typeface="Nunito Semi Bold" pitchFamily="34" charset="-120"/>
              </a:rPr>
              <a:t>Empowerment</a:t>
            </a:r>
            <a:endParaRPr lang="en-US" sz="1900" dirty="0"/>
          </a:p>
        </p:txBody>
      </p:sp>
      <p:sp>
        <p:nvSpPr>
          <p:cNvPr id="18" name="Text 16"/>
          <p:cNvSpPr/>
          <p:nvPr/>
        </p:nvSpPr>
        <p:spPr>
          <a:xfrm>
            <a:off x="1240631" y="6430804"/>
            <a:ext cx="12705278" cy="273725"/>
          </a:xfrm>
          <a:prstGeom prst="rect">
            <a:avLst/>
          </a:prstGeom>
          <a:noFill/>
          <a:ln/>
        </p:spPr>
        <p:txBody>
          <a:bodyPr wrap="none" lIns="0" tIns="0" rIns="0" bIns="0" rtlCol="0" anchor="t"/>
          <a:lstStyle/>
          <a:p>
            <a:pPr marL="0" indent="0" algn="l">
              <a:lnSpc>
                <a:spcPts val="2150"/>
              </a:lnSpc>
              <a:buNone/>
            </a:pPr>
            <a:r>
              <a:rPr lang="en-US" sz="1300" dirty="0">
                <a:solidFill>
                  <a:srgbClr val="FFFFFF"/>
                </a:solidFill>
                <a:latin typeface="PT Sans" pitchFamily="34" charset="0"/>
                <a:ea typeface="PT Sans" pitchFamily="34" charset="-122"/>
                <a:cs typeface="PT Sans" pitchFamily="34" charset="-120"/>
              </a:rPr>
              <a:t>Helps students, teachers, healthcare workers, and farmers access information in their native language, leading to better decision-making.</a:t>
            </a:r>
            <a:endParaRPr lang="en-US" sz="1300" dirty="0"/>
          </a:p>
        </p:txBody>
      </p:sp>
      <p:sp>
        <p:nvSpPr>
          <p:cNvPr id="19" name="Shape 17"/>
          <p:cNvSpPr/>
          <p:nvPr/>
        </p:nvSpPr>
        <p:spPr>
          <a:xfrm>
            <a:off x="684490" y="7046714"/>
            <a:ext cx="385048" cy="385048"/>
          </a:xfrm>
          <a:prstGeom prst="roundRect">
            <a:avLst>
              <a:gd name="adj" fmla="val 66672"/>
            </a:avLst>
          </a:prstGeom>
          <a:solidFill>
            <a:srgbClr val="00002E"/>
          </a:solidFill>
          <a:ln w="15240">
            <a:solidFill>
              <a:srgbClr val="F2B42D"/>
            </a:solidFill>
            <a:prstDash val="solid"/>
          </a:ln>
        </p:spPr>
      </p:sp>
      <p:sp>
        <p:nvSpPr>
          <p:cNvPr id="20" name="Text 18"/>
          <p:cNvSpPr/>
          <p:nvPr/>
        </p:nvSpPr>
        <p:spPr>
          <a:xfrm>
            <a:off x="1240631" y="7078742"/>
            <a:ext cx="2416135" cy="301943"/>
          </a:xfrm>
          <a:prstGeom prst="rect">
            <a:avLst/>
          </a:prstGeom>
          <a:noFill/>
          <a:ln/>
        </p:spPr>
        <p:txBody>
          <a:bodyPr wrap="none" lIns="0" tIns="0" rIns="0" bIns="0" rtlCol="0" anchor="t"/>
          <a:lstStyle/>
          <a:p>
            <a:pPr marL="0" indent="0" algn="l">
              <a:lnSpc>
                <a:spcPts val="2350"/>
              </a:lnSpc>
              <a:buNone/>
            </a:pPr>
            <a:r>
              <a:rPr lang="en-US" sz="1900" dirty="0">
                <a:solidFill>
                  <a:srgbClr val="F2B42D"/>
                </a:solidFill>
                <a:latin typeface="Nunito Semi Bold" pitchFamily="34" charset="0"/>
                <a:ea typeface="Nunito Semi Bold" pitchFamily="34" charset="-122"/>
                <a:cs typeface="Nunito Semi Bold" pitchFamily="34" charset="-120"/>
              </a:rPr>
              <a:t>Social Impact</a:t>
            </a:r>
            <a:endParaRPr lang="en-US" sz="1900" dirty="0"/>
          </a:p>
        </p:txBody>
      </p:sp>
      <p:sp>
        <p:nvSpPr>
          <p:cNvPr id="21" name="Text 19"/>
          <p:cNvSpPr/>
          <p:nvPr/>
        </p:nvSpPr>
        <p:spPr>
          <a:xfrm>
            <a:off x="1240631" y="7483316"/>
            <a:ext cx="12705278" cy="273725"/>
          </a:xfrm>
          <a:prstGeom prst="rect">
            <a:avLst/>
          </a:prstGeom>
          <a:noFill/>
          <a:ln/>
        </p:spPr>
        <p:txBody>
          <a:bodyPr wrap="none" lIns="0" tIns="0" rIns="0" bIns="0" rtlCol="0" anchor="t"/>
          <a:lstStyle/>
          <a:p>
            <a:pPr marL="0" indent="0" algn="l">
              <a:lnSpc>
                <a:spcPts val="2150"/>
              </a:lnSpc>
              <a:buNone/>
            </a:pPr>
            <a:r>
              <a:rPr lang="en-US" sz="1300" dirty="0">
                <a:solidFill>
                  <a:srgbClr val="FFFFFF"/>
                </a:solidFill>
                <a:latin typeface="PT Sans" pitchFamily="34" charset="0"/>
                <a:ea typeface="PT Sans" pitchFamily="34" charset="-122"/>
                <a:cs typeface="PT Sans" pitchFamily="34" charset="-120"/>
              </a:rPr>
              <a:t>Bridges the gap between technology and underserved communities, aligning with crucial social equity goals.</a:t>
            </a:r>
            <a:endParaRPr lang="en-US" sz="1300" dirty="0"/>
          </a:p>
        </p:txBody>
      </p:sp>
      <p:pic>
        <p:nvPicPr>
          <p:cNvPr id="23" name="Picture 22">
            <a:extLst>
              <a:ext uri="{FF2B5EF4-FFF2-40B4-BE49-F238E27FC236}">
                <a16:creationId xmlns:a16="http://schemas.microsoft.com/office/drawing/2014/main" id="{C420577A-19EB-B070-D7EC-26CA2728D335}"/>
              </a:ext>
            </a:extLst>
          </p:cNvPr>
          <p:cNvPicPr>
            <a:picLocks noChangeAspect="1"/>
          </p:cNvPicPr>
          <p:nvPr/>
        </p:nvPicPr>
        <p:blipFill>
          <a:blip r:embed="rId3"/>
          <a:stretch>
            <a:fillRect/>
          </a:stretch>
        </p:blipFill>
        <p:spPr>
          <a:xfrm>
            <a:off x="12678970" y="7757041"/>
            <a:ext cx="1862219" cy="41915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1140" y="532924"/>
            <a:ext cx="7594521" cy="1139428"/>
          </a:xfrm>
          <a:prstGeom prst="rect">
            <a:avLst/>
          </a:prstGeom>
          <a:noFill/>
          <a:ln/>
        </p:spPr>
        <p:txBody>
          <a:bodyPr wrap="square" lIns="0" tIns="0" rIns="0" bIns="0" rtlCol="0" anchor="t"/>
          <a:lstStyle/>
          <a:p>
            <a:pPr marL="0" indent="0" algn="l">
              <a:lnSpc>
                <a:spcPts val="4450"/>
              </a:lnSpc>
              <a:buNone/>
            </a:pPr>
            <a:r>
              <a:rPr lang="en-US" sz="3550" dirty="0">
                <a:solidFill>
                  <a:srgbClr val="000000"/>
                </a:solidFill>
                <a:latin typeface="Nunito Semi Bold" pitchFamily="34" charset="0"/>
                <a:ea typeface="Nunito Semi Bold" pitchFamily="34" charset="-122"/>
                <a:cs typeface="Nunito Semi Bold" pitchFamily="34" charset="-120"/>
              </a:rPr>
              <a:t>Resource Requirements for Quick Docs</a:t>
            </a:r>
            <a:endParaRPr lang="en-US" sz="3550" dirty="0"/>
          </a:p>
        </p:txBody>
      </p:sp>
      <p:sp>
        <p:nvSpPr>
          <p:cNvPr id="4" name="Text 1"/>
          <p:cNvSpPr/>
          <p:nvPr/>
        </p:nvSpPr>
        <p:spPr>
          <a:xfrm>
            <a:off x="6261140" y="1962864"/>
            <a:ext cx="7594521" cy="619839"/>
          </a:xfrm>
          <a:prstGeom prst="rect">
            <a:avLst/>
          </a:prstGeom>
          <a:noFill/>
          <a:ln/>
        </p:spPr>
        <p:txBody>
          <a:bodyPr wrap="square" lIns="0" tIns="0" rIns="0" bIns="0" rtlCol="0" anchor="t"/>
          <a:lstStyle/>
          <a:p>
            <a:pPr marL="0" indent="0" algn="l">
              <a:lnSpc>
                <a:spcPts val="2400"/>
              </a:lnSpc>
              <a:buNone/>
            </a:pPr>
            <a:r>
              <a:rPr lang="en-US" sz="1500" dirty="0">
                <a:solidFill>
                  <a:srgbClr val="000000"/>
                </a:solidFill>
                <a:latin typeface="PT Sans" pitchFamily="34" charset="0"/>
                <a:ea typeface="PT Sans" pitchFamily="34" charset="-122"/>
                <a:cs typeface="PT Sans" pitchFamily="34" charset="-120"/>
              </a:rPr>
              <a:t>Developing and deploying Quick Docs requires a strategic allocation of technical, human, and financial resources, alongside key partnerships.</a:t>
            </a:r>
            <a:endParaRPr lang="en-US" sz="1500" dirty="0"/>
          </a:p>
        </p:txBody>
      </p:sp>
      <p:sp>
        <p:nvSpPr>
          <p:cNvPr id="5" name="Text 2"/>
          <p:cNvSpPr/>
          <p:nvPr/>
        </p:nvSpPr>
        <p:spPr>
          <a:xfrm>
            <a:off x="6261140" y="2994184"/>
            <a:ext cx="2734747" cy="341828"/>
          </a:xfrm>
          <a:prstGeom prst="rect">
            <a:avLst/>
          </a:prstGeom>
          <a:noFill/>
          <a:ln/>
        </p:spPr>
        <p:txBody>
          <a:bodyPr wrap="none" lIns="0" tIns="0" rIns="0" bIns="0" rtlCol="0" anchor="t"/>
          <a:lstStyle/>
          <a:p>
            <a:pPr marL="0" indent="0" algn="l">
              <a:lnSpc>
                <a:spcPts val="2650"/>
              </a:lnSpc>
              <a:buNone/>
            </a:pPr>
            <a:r>
              <a:rPr lang="en-US" sz="2150" dirty="0">
                <a:solidFill>
                  <a:srgbClr val="000000"/>
                </a:solidFill>
                <a:latin typeface="Nunito Semi Bold" pitchFamily="34" charset="0"/>
                <a:ea typeface="Nunito Semi Bold" pitchFamily="34" charset="-122"/>
                <a:cs typeface="Nunito Semi Bold" pitchFamily="34" charset="-120"/>
              </a:rPr>
              <a:t>Technical Resources</a:t>
            </a:r>
            <a:endParaRPr lang="en-US" sz="2150" dirty="0"/>
          </a:p>
        </p:txBody>
      </p:sp>
      <p:sp>
        <p:nvSpPr>
          <p:cNvPr id="6" name="Text 3"/>
          <p:cNvSpPr/>
          <p:nvPr/>
        </p:nvSpPr>
        <p:spPr>
          <a:xfrm>
            <a:off x="6261140" y="3529608"/>
            <a:ext cx="3561040" cy="619839"/>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Cloud infrastructure (Google Cloud Storage, APIs, Node.js, Express.js)</a:t>
            </a:r>
            <a:endParaRPr lang="en-US" sz="1500" dirty="0"/>
          </a:p>
        </p:txBody>
      </p:sp>
      <p:sp>
        <p:nvSpPr>
          <p:cNvPr id="7" name="Text 4"/>
          <p:cNvSpPr/>
          <p:nvPr/>
        </p:nvSpPr>
        <p:spPr>
          <a:xfrm>
            <a:off x="6261140" y="4217194"/>
            <a:ext cx="3561040" cy="30992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MongoDB for encrypted data storage</a:t>
            </a:r>
            <a:endParaRPr lang="en-US" sz="1500" dirty="0"/>
          </a:p>
        </p:txBody>
      </p:sp>
      <p:sp>
        <p:nvSpPr>
          <p:cNvPr id="8" name="Text 5"/>
          <p:cNvSpPr/>
          <p:nvPr/>
        </p:nvSpPr>
        <p:spPr>
          <a:xfrm>
            <a:off x="6261140" y="4594860"/>
            <a:ext cx="3561040" cy="30992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AI services (NLP and OCR tools)</a:t>
            </a:r>
            <a:endParaRPr lang="en-US" sz="1500" dirty="0"/>
          </a:p>
        </p:txBody>
      </p:sp>
      <p:sp>
        <p:nvSpPr>
          <p:cNvPr id="9" name="Text 6"/>
          <p:cNvSpPr/>
          <p:nvPr/>
        </p:nvSpPr>
        <p:spPr>
          <a:xfrm>
            <a:off x="6261140" y="4972526"/>
            <a:ext cx="3561040" cy="619839"/>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Mobile development tools (React Native, Expo)</a:t>
            </a:r>
            <a:endParaRPr lang="en-US" sz="1500" dirty="0"/>
          </a:p>
        </p:txBody>
      </p:sp>
      <p:sp>
        <p:nvSpPr>
          <p:cNvPr id="10" name="Text 7"/>
          <p:cNvSpPr/>
          <p:nvPr/>
        </p:nvSpPr>
        <p:spPr>
          <a:xfrm>
            <a:off x="6261140" y="5785961"/>
            <a:ext cx="2734747" cy="341828"/>
          </a:xfrm>
          <a:prstGeom prst="rect">
            <a:avLst/>
          </a:prstGeom>
          <a:noFill/>
          <a:ln/>
        </p:spPr>
        <p:txBody>
          <a:bodyPr wrap="none" lIns="0" tIns="0" rIns="0" bIns="0" rtlCol="0" anchor="t"/>
          <a:lstStyle/>
          <a:p>
            <a:pPr marL="0" indent="0" algn="l">
              <a:lnSpc>
                <a:spcPts val="2650"/>
              </a:lnSpc>
              <a:buNone/>
            </a:pPr>
            <a:r>
              <a:rPr lang="en-US" sz="2150" dirty="0">
                <a:solidFill>
                  <a:srgbClr val="000000"/>
                </a:solidFill>
                <a:latin typeface="Nunito Semi Bold" pitchFamily="34" charset="0"/>
                <a:ea typeface="Nunito Semi Bold" pitchFamily="34" charset="-122"/>
                <a:cs typeface="Nunito Semi Bold" pitchFamily="34" charset="-120"/>
              </a:rPr>
              <a:t>Human Resources</a:t>
            </a:r>
            <a:endParaRPr lang="en-US" sz="2150" dirty="0"/>
          </a:p>
        </p:txBody>
      </p:sp>
      <p:sp>
        <p:nvSpPr>
          <p:cNvPr id="11" name="Text 8"/>
          <p:cNvSpPr/>
          <p:nvPr/>
        </p:nvSpPr>
        <p:spPr>
          <a:xfrm>
            <a:off x="6261140" y="6321385"/>
            <a:ext cx="3561040" cy="619839"/>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AI engineers, Backend, Frontend developers</a:t>
            </a:r>
            <a:endParaRPr lang="en-US" sz="1500" dirty="0"/>
          </a:p>
        </p:txBody>
      </p:sp>
      <p:sp>
        <p:nvSpPr>
          <p:cNvPr id="12" name="Text 9"/>
          <p:cNvSpPr/>
          <p:nvPr/>
        </p:nvSpPr>
        <p:spPr>
          <a:xfrm>
            <a:off x="6261140" y="7008971"/>
            <a:ext cx="3561040" cy="619839"/>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UI/UX designers focused on accessibility</a:t>
            </a:r>
            <a:endParaRPr lang="en-US" sz="1500" dirty="0"/>
          </a:p>
        </p:txBody>
      </p:sp>
      <p:sp>
        <p:nvSpPr>
          <p:cNvPr id="13" name="Text 10"/>
          <p:cNvSpPr/>
          <p:nvPr/>
        </p:nvSpPr>
        <p:spPr>
          <a:xfrm>
            <a:off x="10302240" y="2994184"/>
            <a:ext cx="2734747" cy="341828"/>
          </a:xfrm>
          <a:prstGeom prst="rect">
            <a:avLst/>
          </a:prstGeom>
          <a:noFill/>
          <a:ln/>
        </p:spPr>
        <p:txBody>
          <a:bodyPr wrap="none" lIns="0" tIns="0" rIns="0" bIns="0" rtlCol="0" anchor="t"/>
          <a:lstStyle/>
          <a:p>
            <a:pPr marL="0" indent="0" algn="l">
              <a:lnSpc>
                <a:spcPts val="2650"/>
              </a:lnSpc>
              <a:buNone/>
            </a:pPr>
            <a:r>
              <a:rPr lang="en-US" sz="2150" dirty="0">
                <a:solidFill>
                  <a:srgbClr val="000000"/>
                </a:solidFill>
                <a:latin typeface="Nunito Semi Bold" pitchFamily="34" charset="0"/>
                <a:ea typeface="Nunito Semi Bold" pitchFamily="34" charset="-122"/>
                <a:cs typeface="Nunito Semi Bold" pitchFamily="34" charset="-120"/>
              </a:rPr>
              <a:t>Financial Resources</a:t>
            </a:r>
            <a:endParaRPr lang="en-US" sz="2150" dirty="0"/>
          </a:p>
        </p:txBody>
      </p:sp>
      <p:sp>
        <p:nvSpPr>
          <p:cNvPr id="14" name="Text 11"/>
          <p:cNvSpPr/>
          <p:nvPr/>
        </p:nvSpPr>
        <p:spPr>
          <a:xfrm>
            <a:off x="10302240" y="3529608"/>
            <a:ext cx="3561040" cy="30992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Cloud hosting services</a:t>
            </a:r>
            <a:endParaRPr lang="en-US" sz="1500" dirty="0"/>
          </a:p>
        </p:txBody>
      </p:sp>
      <p:sp>
        <p:nvSpPr>
          <p:cNvPr id="15" name="Text 12"/>
          <p:cNvSpPr/>
          <p:nvPr/>
        </p:nvSpPr>
        <p:spPr>
          <a:xfrm>
            <a:off x="10302240" y="3907274"/>
            <a:ext cx="3561040" cy="30992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Licensing for third-party APIs</a:t>
            </a:r>
            <a:endParaRPr lang="en-US" sz="1500" dirty="0"/>
          </a:p>
        </p:txBody>
      </p:sp>
      <p:sp>
        <p:nvSpPr>
          <p:cNvPr id="16" name="Text 13"/>
          <p:cNvSpPr/>
          <p:nvPr/>
        </p:nvSpPr>
        <p:spPr>
          <a:xfrm>
            <a:off x="10302240" y="4284940"/>
            <a:ext cx="3561040" cy="30992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Development and maintenance costs</a:t>
            </a:r>
            <a:endParaRPr lang="en-US" sz="1500" dirty="0"/>
          </a:p>
        </p:txBody>
      </p:sp>
      <p:sp>
        <p:nvSpPr>
          <p:cNvPr id="17" name="Text 14"/>
          <p:cNvSpPr/>
          <p:nvPr/>
        </p:nvSpPr>
        <p:spPr>
          <a:xfrm>
            <a:off x="10302240" y="4788456"/>
            <a:ext cx="2734747" cy="341828"/>
          </a:xfrm>
          <a:prstGeom prst="rect">
            <a:avLst/>
          </a:prstGeom>
          <a:noFill/>
          <a:ln/>
        </p:spPr>
        <p:txBody>
          <a:bodyPr wrap="none" lIns="0" tIns="0" rIns="0" bIns="0" rtlCol="0" anchor="t"/>
          <a:lstStyle/>
          <a:p>
            <a:pPr marL="0" indent="0" algn="l">
              <a:lnSpc>
                <a:spcPts val="2650"/>
              </a:lnSpc>
              <a:buNone/>
            </a:pPr>
            <a:r>
              <a:rPr lang="en-US" sz="2150" dirty="0">
                <a:solidFill>
                  <a:srgbClr val="000000"/>
                </a:solidFill>
                <a:latin typeface="Nunito Semi Bold" pitchFamily="34" charset="0"/>
                <a:ea typeface="Nunito Semi Bold" pitchFamily="34" charset="-122"/>
                <a:cs typeface="Nunito Semi Bold" pitchFamily="34" charset="-120"/>
              </a:rPr>
              <a:t>Time &amp; Partnerships</a:t>
            </a:r>
            <a:endParaRPr lang="en-US" sz="2150" dirty="0"/>
          </a:p>
        </p:txBody>
      </p:sp>
      <p:sp>
        <p:nvSpPr>
          <p:cNvPr id="18" name="Text 15"/>
          <p:cNvSpPr/>
          <p:nvPr/>
        </p:nvSpPr>
        <p:spPr>
          <a:xfrm>
            <a:off x="10302240" y="5323880"/>
            <a:ext cx="3561040" cy="30992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MVP development (1–2 months)</a:t>
            </a:r>
            <a:endParaRPr lang="en-US" sz="1500" dirty="0"/>
          </a:p>
        </p:txBody>
      </p:sp>
      <p:sp>
        <p:nvSpPr>
          <p:cNvPr id="19" name="Text 16"/>
          <p:cNvSpPr/>
          <p:nvPr/>
        </p:nvSpPr>
        <p:spPr>
          <a:xfrm>
            <a:off x="10302240" y="5701546"/>
            <a:ext cx="3561040" cy="30992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Testing with pilot user groups</a:t>
            </a:r>
            <a:endParaRPr lang="en-US" sz="1500" dirty="0"/>
          </a:p>
        </p:txBody>
      </p:sp>
      <p:sp>
        <p:nvSpPr>
          <p:cNvPr id="20" name="Text 17"/>
          <p:cNvSpPr/>
          <p:nvPr/>
        </p:nvSpPr>
        <p:spPr>
          <a:xfrm>
            <a:off x="10302240" y="6079212"/>
            <a:ext cx="3561040" cy="1325198"/>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000000"/>
                </a:solidFill>
                <a:latin typeface="PT Sans" pitchFamily="34" charset="0"/>
                <a:ea typeface="PT Sans" pitchFamily="34" charset="-122"/>
                <a:cs typeface="PT Sans" pitchFamily="34" charset="-120"/>
              </a:rPr>
              <a:t>Business People, Students, Working Professionals, Educational institutes, NGOs, healthcare providers for pilot testing</a:t>
            </a:r>
            <a:endParaRPr lang="en-US" sz="1500" dirty="0"/>
          </a:p>
        </p:txBody>
      </p:sp>
      <p:pic>
        <p:nvPicPr>
          <p:cNvPr id="22" name="Picture 21">
            <a:extLst>
              <a:ext uri="{FF2B5EF4-FFF2-40B4-BE49-F238E27FC236}">
                <a16:creationId xmlns:a16="http://schemas.microsoft.com/office/drawing/2014/main" id="{0C9BF0BE-6797-0A00-23BC-681446ABB0F4}"/>
              </a:ext>
            </a:extLst>
          </p:cNvPr>
          <p:cNvPicPr>
            <a:picLocks noChangeAspect="1"/>
          </p:cNvPicPr>
          <p:nvPr/>
        </p:nvPicPr>
        <p:blipFill>
          <a:blip r:embed="rId4"/>
          <a:stretch>
            <a:fillRect/>
          </a:stretch>
        </p:blipFill>
        <p:spPr>
          <a:xfrm>
            <a:off x="12228617" y="7628810"/>
            <a:ext cx="2323723" cy="5238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18052" y="571976"/>
            <a:ext cx="7480697" cy="1223010"/>
          </a:xfrm>
          <a:prstGeom prst="rect">
            <a:avLst/>
          </a:prstGeom>
          <a:noFill/>
          <a:ln/>
        </p:spPr>
        <p:txBody>
          <a:bodyPr wrap="square" lIns="0" tIns="0" rIns="0" bIns="0" rtlCol="0" anchor="t"/>
          <a:lstStyle/>
          <a:p>
            <a:pPr marL="0" indent="0" algn="l">
              <a:lnSpc>
                <a:spcPts val="4800"/>
              </a:lnSpc>
              <a:buNone/>
            </a:pPr>
            <a:r>
              <a:rPr lang="en-US" sz="3850" dirty="0">
                <a:solidFill>
                  <a:srgbClr val="FFFFFF"/>
                </a:solidFill>
                <a:latin typeface="Nunito Semi Bold" pitchFamily="34" charset="0"/>
                <a:ea typeface="Nunito Semi Bold" pitchFamily="34" charset="-122"/>
                <a:cs typeface="Nunito Semi Bold" pitchFamily="34" charset="-120"/>
              </a:rPr>
              <a:t>Aligning with D3CODE 2025: Data, Intelligence, Social Impact</a:t>
            </a:r>
            <a:endParaRPr lang="en-US" sz="3850" dirty="0"/>
          </a:p>
        </p:txBody>
      </p:sp>
      <p:sp>
        <p:nvSpPr>
          <p:cNvPr id="4" name="Text 1"/>
          <p:cNvSpPr/>
          <p:nvPr/>
        </p:nvSpPr>
        <p:spPr>
          <a:xfrm>
            <a:off x="6318052" y="2106811"/>
            <a:ext cx="7480697" cy="665083"/>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Quick Docs perfectly aligns with the D3CODE 2025 theme, leveraging data and intelligence to create significant positive social impact.</a:t>
            </a:r>
            <a:endParaRPr lang="en-US" sz="1600" dirty="0"/>
          </a:p>
        </p:txBody>
      </p:sp>
      <p:sp>
        <p:nvSpPr>
          <p:cNvPr id="5" name="Shape 2"/>
          <p:cNvSpPr/>
          <p:nvPr/>
        </p:nvSpPr>
        <p:spPr>
          <a:xfrm>
            <a:off x="6318052" y="3005733"/>
            <a:ext cx="3636407" cy="2554486"/>
          </a:xfrm>
          <a:prstGeom prst="roundRect">
            <a:avLst>
              <a:gd name="adj" fmla="val 19534"/>
            </a:avLst>
          </a:prstGeom>
          <a:solidFill>
            <a:srgbClr val="00002E"/>
          </a:solidFill>
          <a:ln w="22860">
            <a:solidFill>
              <a:srgbClr val="F2B42D"/>
            </a:solidFill>
            <a:prstDash val="solid"/>
          </a:ln>
        </p:spPr>
      </p:sp>
      <p:sp>
        <p:nvSpPr>
          <p:cNvPr id="6" name="Text 3"/>
          <p:cNvSpPr/>
          <p:nvPr/>
        </p:nvSpPr>
        <p:spPr>
          <a:xfrm>
            <a:off x="6548795" y="3236476"/>
            <a:ext cx="2446020" cy="305633"/>
          </a:xfrm>
          <a:prstGeom prst="rect">
            <a:avLst/>
          </a:prstGeom>
          <a:noFill/>
          <a:ln/>
        </p:spPr>
        <p:txBody>
          <a:bodyPr wrap="none" lIns="0" tIns="0" rIns="0" bIns="0" rtlCol="0" anchor="t"/>
          <a:lstStyle/>
          <a:p>
            <a:pPr marL="0" indent="0" algn="l">
              <a:lnSpc>
                <a:spcPts val="2400"/>
              </a:lnSpc>
              <a:buNone/>
            </a:pPr>
            <a:r>
              <a:rPr lang="en-US" sz="1900" dirty="0">
                <a:solidFill>
                  <a:srgbClr val="FFFFFF"/>
                </a:solidFill>
                <a:latin typeface="Nunito Semi Bold" pitchFamily="34" charset="0"/>
                <a:ea typeface="Nunito Semi Bold" pitchFamily="34" charset="-122"/>
                <a:cs typeface="Nunito Semi Bold" pitchFamily="34" charset="-120"/>
              </a:rPr>
              <a:t>Data Transformation</a:t>
            </a:r>
            <a:endParaRPr lang="en-US" sz="1900" dirty="0"/>
          </a:p>
        </p:txBody>
      </p:sp>
      <p:sp>
        <p:nvSpPr>
          <p:cNvPr id="7" name="Text 4"/>
          <p:cNvSpPr/>
          <p:nvPr/>
        </p:nvSpPr>
        <p:spPr>
          <a:xfrm>
            <a:off x="6548795" y="3666768"/>
            <a:ext cx="3174921" cy="1662708"/>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Converts unstructured data (documents, images, PDFs) into searchable, structured knowledge, managing vast amounts of information securely in the cloud.</a:t>
            </a:r>
            <a:endParaRPr lang="en-US" sz="1600" dirty="0"/>
          </a:p>
        </p:txBody>
      </p:sp>
      <p:sp>
        <p:nvSpPr>
          <p:cNvPr id="8" name="Shape 5"/>
          <p:cNvSpPr/>
          <p:nvPr/>
        </p:nvSpPr>
        <p:spPr>
          <a:xfrm>
            <a:off x="10162342" y="3005733"/>
            <a:ext cx="3636407" cy="2554486"/>
          </a:xfrm>
          <a:prstGeom prst="roundRect">
            <a:avLst>
              <a:gd name="adj" fmla="val 19534"/>
            </a:avLst>
          </a:prstGeom>
          <a:solidFill>
            <a:srgbClr val="00002E"/>
          </a:solidFill>
          <a:ln w="22860">
            <a:solidFill>
              <a:srgbClr val="59ABA9"/>
            </a:solidFill>
            <a:prstDash val="solid"/>
          </a:ln>
        </p:spPr>
      </p:sp>
      <p:sp>
        <p:nvSpPr>
          <p:cNvPr id="9" name="Text 6"/>
          <p:cNvSpPr/>
          <p:nvPr/>
        </p:nvSpPr>
        <p:spPr>
          <a:xfrm>
            <a:off x="10393085" y="3236476"/>
            <a:ext cx="2446020" cy="305633"/>
          </a:xfrm>
          <a:prstGeom prst="rect">
            <a:avLst/>
          </a:prstGeom>
          <a:noFill/>
          <a:ln/>
        </p:spPr>
        <p:txBody>
          <a:bodyPr wrap="none" lIns="0" tIns="0" rIns="0" bIns="0" rtlCol="0" anchor="t"/>
          <a:lstStyle/>
          <a:p>
            <a:pPr marL="0" indent="0" algn="l">
              <a:lnSpc>
                <a:spcPts val="2400"/>
              </a:lnSpc>
              <a:buNone/>
            </a:pPr>
            <a:r>
              <a:rPr lang="en-US" sz="1900" dirty="0">
                <a:solidFill>
                  <a:srgbClr val="FFFFFF"/>
                </a:solidFill>
                <a:latin typeface="Nunito Semi Bold" pitchFamily="34" charset="0"/>
                <a:ea typeface="Nunito Semi Bold" pitchFamily="34" charset="-122"/>
                <a:cs typeface="Nunito Semi Bold" pitchFamily="34" charset="-120"/>
              </a:rPr>
              <a:t>AI-Driven Intelligence</a:t>
            </a:r>
            <a:endParaRPr lang="en-US" sz="1900" dirty="0"/>
          </a:p>
        </p:txBody>
      </p:sp>
      <p:sp>
        <p:nvSpPr>
          <p:cNvPr id="10" name="Text 7"/>
          <p:cNvSpPr/>
          <p:nvPr/>
        </p:nvSpPr>
        <p:spPr>
          <a:xfrm>
            <a:off x="10393085" y="3666768"/>
            <a:ext cx="3174921" cy="1662708"/>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Implements AI-driven NLP models and OCR to understand, index, and respond to queries intelligently, with multilingual interaction adapting to user preferences.</a:t>
            </a:r>
            <a:endParaRPr lang="en-US" sz="1600" dirty="0"/>
          </a:p>
        </p:txBody>
      </p:sp>
      <p:sp>
        <p:nvSpPr>
          <p:cNvPr id="11" name="Shape 8"/>
          <p:cNvSpPr/>
          <p:nvPr/>
        </p:nvSpPr>
        <p:spPr>
          <a:xfrm>
            <a:off x="6318052" y="5768102"/>
            <a:ext cx="7480697" cy="1889403"/>
          </a:xfrm>
          <a:prstGeom prst="roundRect">
            <a:avLst>
              <a:gd name="adj" fmla="val 26411"/>
            </a:avLst>
          </a:prstGeom>
          <a:solidFill>
            <a:srgbClr val="00002E"/>
          </a:solidFill>
          <a:ln w="22860">
            <a:solidFill>
              <a:srgbClr val="48A8E2"/>
            </a:solidFill>
            <a:prstDash val="solid"/>
          </a:ln>
        </p:spPr>
      </p:sp>
      <p:sp>
        <p:nvSpPr>
          <p:cNvPr id="12" name="Text 9"/>
          <p:cNvSpPr/>
          <p:nvPr/>
        </p:nvSpPr>
        <p:spPr>
          <a:xfrm>
            <a:off x="6548795" y="5998845"/>
            <a:ext cx="2581275" cy="305633"/>
          </a:xfrm>
          <a:prstGeom prst="rect">
            <a:avLst/>
          </a:prstGeom>
          <a:noFill/>
          <a:ln/>
        </p:spPr>
        <p:txBody>
          <a:bodyPr wrap="none" lIns="0" tIns="0" rIns="0" bIns="0" rtlCol="0" anchor="t"/>
          <a:lstStyle/>
          <a:p>
            <a:pPr marL="0" indent="0" algn="l">
              <a:lnSpc>
                <a:spcPts val="2400"/>
              </a:lnSpc>
              <a:buNone/>
            </a:pPr>
            <a:r>
              <a:rPr lang="en-US" sz="1900" dirty="0">
                <a:solidFill>
                  <a:srgbClr val="FFFFFF"/>
                </a:solidFill>
                <a:latin typeface="Nunito Semi Bold" pitchFamily="34" charset="0"/>
                <a:ea typeface="Nunito Semi Bold" pitchFamily="34" charset="-122"/>
                <a:cs typeface="Nunito Semi Bold" pitchFamily="34" charset="-120"/>
              </a:rPr>
              <a:t>Profound Social Impact</a:t>
            </a:r>
            <a:endParaRPr lang="en-US" sz="1900" dirty="0"/>
          </a:p>
        </p:txBody>
      </p:sp>
      <p:sp>
        <p:nvSpPr>
          <p:cNvPr id="13" name="Text 10"/>
          <p:cNvSpPr/>
          <p:nvPr/>
        </p:nvSpPr>
        <p:spPr>
          <a:xfrm>
            <a:off x="6548795" y="6429137"/>
            <a:ext cx="7019211" cy="997625"/>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Reduces the digital divide, assists professionals in critical sectors, and promotes inclusivity by enabling access to knowledge for all, especially underserved communities.</a:t>
            </a:r>
            <a:endParaRPr lang="en-US" sz="1600" dirty="0"/>
          </a:p>
        </p:txBody>
      </p:sp>
      <p:pic>
        <p:nvPicPr>
          <p:cNvPr id="15" name="Picture 14">
            <a:extLst>
              <a:ext uri="{FF2B5EF4-FFF2-40B4-BE49-F238E27FC236}">
                <a16:creationId xmlns:a16="http://schemas.microsoft.com/office/drawing/2014/main" id="{7D848EEE-C0C8-432D-AAE3-9215D85E597C}"/>
              </a:ext>
            </a:extLst>
          </p:cNvPr>
          <p:cNvPicPr>
            <a:picLocks noChangeAspect="1"/>
          </p:cNvPicPr>
          <p:nvPr/>
        </p:nvPicPr>
        <p:blipFill>
          <a:blip r:embed="rId4"/>
          <a:stretch>
            <a:fillRect/>
          </a:stretch>
        </p:blipFill>
        <p:spPr>
          <a:xfrm>
            <a:off x="11980545" y="7782164"/>
            <a:ext cx="2527192" cy="3433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1090732"/>
            <a:ext cx="9042202" cy="615910"/>
          </a:xfrm>
          <a:prstGeom prst="rect">
            <a:avLst/>
          </a:prstGeom>
          <a:noFill/>
          <a:ln/>
        </p:spPr>
        <p:txBody>
          <a:bodyPr wrap="none" lIns="0" tIns="0" rIns="0" bIns="0" rtlCol="0" anchor="t"/>
          <a:lstStyle/>
          <a:p>
            <a:pPr marL="0" indent="0" algn="l">
              <a:lnSpc>
                <a:spcPts val="4850"/>
              </a:lnSpc>
              <a:buNone/>
            </a:pPr>
            <a:r>
              <a:rPr lang="en-US" sz="3850" dirty="0">
                <a:solidFill>
                  <a:srgbClr val="000000"/>
                </a:solidFill>
                <a:latin typeface="Nunito Semi Bold" pitchFamily="34" charset="0"/>
                <a:ea typeface="Nunito Semi Bold" pitchFamily="34" charset="-122"/>
                <a:cs typeface="Nunito Semi Bold" pitchFamily="34" charset="-120"/>
              </a:rPr>
              <a:t>Validating the Need &amp; Competitive Edge</a:t>
            </a:r>
            <a:endParaRPr lang="en-US" sz="3850" dirty="0"/>
          </a:p>
        </p:txBody>
      </p:sp>
      <p:sp>
        <p:nvSpPr>
          <p:cNvPr id="3" name="Text 1"/>
          <p:cNvSpPr/>
          <p:nvPr/>
        </p:nvSpPr>
        <p:spPr>
          <a:xfrm>
            <a:off x="837724" y="2125504"/>
            <a:ext cx="12954952" cy="335042"/>
          </a:xfrm>
          <a:prstGeom prst="rect">
            <a:avLst/>
          </a:prstGeom>
          <a:noFill/>
          <a:ln/>
        </p:spPr>
        <p:txBody>
          <a:bodyPr wrap="none" lIns="0" tIns="0" rIns="0" bIns="0" rtlCol="0" anchor="t"/>
          <a:lstStyle/>
          <a:p>
            <a:pPr marL="0" indent="0" algn="l">
              <a:lnSpc>
                <a:spcPts val="2600"/>
              </a:lnSpc>
              <a:buNone/>
            </a:pPr>
            <a:r>
              <a:rPr lang="en-US" sz="1600" dirty="0">
                <a:solidFill>
                  <a:srgbClr val="000000"/>
                </a:solidFill>
                <a:latin typeface="PT Sans" pitchFamily="34" charset="0"/>
                <a:ea typeface="PT Sans" pitchFamily="34" charset="-122"/>
                <a:cs typeface="PT Sans" pitchFamily="34" charset="-120"/>
              </a:rPr>
              <a:t>There is a demonstrated need for Quick Docs across multiple sectors, and our unique feature set provides a strong competitive advantage.</a:t>
            </a:r>
            <a:endParaRPr lang="en-US" sz="1600" dirty="0"/>
          </a:p>
        </p:txBody>
      </p:sp>
      <p:sp>
        <p:nvSpPr>
          <p:cNvPr id="4" name="Text 2"/>
          <p:cNvSpPr/>
          <p:nvPr/>
        </p:nvSpPr>
        <p:spPr>
          <a:xfrm>
            <a:off x="837724" y="2905601"/>
            <a:ext cx="2957036" cy="369689"/>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Nunito Semi Bold" pitchFamily="34" charset="0"/>
                <a:ea typeface="Nunito Semi Bold" pitchFamily="34" charset="-122"/>
                <a:cs typeface="Nunito Semi Bold" pitchFamily="34" charset="-120"/>
              </a:rPr>
              <a:t>Demonstrated Need</a:t>
            </a:r>
            <a:endParaRPr lang="en-US" sz="2300" dirty="0"/>
          </a:p>
        </p:txBody>
      </p:sp>
      <p:sp>
        <p:nvSpPr>
          <p:cNvPr id="5" name="Text 3"/>
          <p:cNvSpPr/>
          <p:nvPr/>
        </p:nvSpPr>
        <p:spPr>
          <a:xfrm>
            <a:off x="837724" y="3484721"/>
            <a:ext cx="6221968" cy="670084"/>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000000"/>
                </a:solidFill>
                <a:latin typeface="PT Sans" pitchFamily="34" charset="0"/>
                <a:ea typeface="PT Sans" pitchFamily="34" charset="-122"/>
                <a:cs typeface="PT Sans" pitchFamily="34" charset="-120"/>
              </a:rPr>
              <a:t>Education:</a:t>
            </a:r>
            <a:r>
              <a:rPr lang="en-US" sz="1600" dirty="0">
                <a:solidFill>
                  <a:srgbClr val="000000"/>
                </a:solidFill>
                <a:latin typeface="PT Sans" pitchFamily="34" charset="0"/>
                <a:ea typeface="PT Sans" pitchFamily="34" charset="-122"/>
                <a:cs typeface="PT Sans" pitchFamily="34" charset="-120"/>
              </a:rPr>
              <a:t> Students struggle with textbooks, especially in rural areas with minimal regional language support.</a:t>
            </a:r>
            <a:endParaRPr lang="en-US" sz="1600" dirty="0"/>
          </a:p>
        </p:txBody>
      </p:sp>
      <p:sp>
        <p:nvSpPr>
          <p:cNvPr id="6" name="Text 4"/>
          <p:cNvSpPr/>
          <p:nvPr/>
        </p:nvSpPr>
        <p:spPr>
          <a:xfrm>
            <a:off x="837724" y="4228028"/>
            <a:ext cx="6221968" cy="670084"/>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000000"/>
                </a:solidFill>
                <a:latin typeface="PT Sans" pitchFamily="34" charset="0"/>
                <a:ea typeface="PT Sans" pitchFamily="34" charset="-122"/>
                <a:cs typeface="PT Sans" pitchFamily="34" charset="-120"/>
              </a:rPr>
              <a:t>Healthcare:</a:t>
            </a:r>
            <a:r>
              <a:rPr lang="en-US" sz="1600" dirty="0">
                <a:solidFill>
                  <a:srgbClr val="000000"/>
                </a:solidFill>
                <a:latin typeface="PT Sans" pitchFamily="34" charset="0"/>
                <a:ea typeface="PT Sans" pitchFamily="34" charset="-122"/>
                <a:cs typeface="PT Sans" pitchFamily="34" charset="-120"/>
              </a:rPr>
              <a:t> Doctors need quick access to medical records and protocols in emergencies.</a:t>
            </a:r>
            <a:endParaRPr lang="en-US" sz="1600" dirty="0"/>
          </a:p>
        </p:txBody>
      </p:sp>
      <p:sp>
        <p:nvSpPr>
          <p:cNvPr id="7" name="Text 5"/>
          <p:cNvSpPr/>
          <p:nvPr/>
        </p:nvSpPr>
        <p:spPr>
          <a:xfrm>
            <a:off x="837724" y="4971336"/>
            <a:ext cx="6221968" cy="335042"/>
          </a:xfrm>
          <a:prstGeom prst="rect">
            <a:avLst/>
          </a:prstGeom>
          <a:noFill/>
          <a:ln/>
        </p:spPr>
        <p:txBody>
          <a:bodyPr wrap="none" lIns="0" tIns="0" rIns="0" bIns="0" rtlCol="0" anchor="t"/>
          <a:lstStyle/>
          <a:p>
            <a:pPr marL="342900" indent="-342900" algn="l">
              <a:lnSpc>
                <a:spcPts val="2600"/>
              </a:lnSpc>
              <a:buSzPct val="100000"/>
              <a:buChar char="•"/>
            </a:pPr>
            <a:r>
              <a:rPr lang="en-US" sz="1600" b="1" dirty="0">
                <a:solidFill>
                  <a:srgbClr val="000000"/>
                </a:solidFill>
                <a:latin typeface="PT Sans" pitchFamily="34" charset="0"/>
                <a:ea typeface="PT Sans" pitchFamily="34" charset="-122"/>
                <a:cs typeface="PT Sans" pitchFamily="34" charset="-120"/>
              </a:rPr>
              <a:t>Business:</a:t>
            </a:r>
            <a:r>
              <a:rPr lang="en-US" sz="1600" dirty="0">
                <a:solidFill>
                  <a:srgbClr val="000000"/>
                </a:solidFill>
                <a:latin typeface="PT Sans" pitchFamily="34" charset="0"/>
                <a:ea typeface="PT Sans" pitchFamily="34" charset="-122"/>
                <a:cs typeface="PT Sans" pitchFamily="34" charset="-120"/>
              </a:rPr>
              <a:t> Employees waste hours searching for reports and files.</a:t>
            </a:r>
            <a:endParaRPr lang="en-US" sz="1600" dirty="0"/>
          </a:p>
        </p:txBody>
      </p:sp>
      <p:sp>
        <p:nvSpPr>
          <p:cNvPr id="8" name="Text 6"/>
          <p:cNvSpPr/>
          <p:nvPr/>
        </p:nvSpPr>
        <p:spPr>
          <a:xfrm>
            <a:off x="837724" y="5379601"/>
            <a:ext cx="6221968" cy="670084"/>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000000"/>
                </a:solidFill>
                <a:latin typeface="PT Sans" pitchFamily="34" charset="0"/>
                <a:ea typeface="PT Sans" pitchFamily="34" charset="-122"/>
                <a:cs typeface="PT Sans" pitchFamily="34" charset="-120"/>
              </a:rPr>
              <a:t>Agriculture:</a:t>
            </a:r>
            <a:r>
              <a:rPr lang="en-US" sz="1600" dirty="0">
                <a:solidFill>
                  <a:srgbClr val="000000"/>
                </a:solidFill>
                <a:latin typeface="PT Sans" pitchFamily="34" charset="0"/>
                <a:ea typeface="PT Sans" pitchFamily="34" charset="-122"/>
                <a:cs typeface="PT Sans" pitchFamily="34" charset="-120"/>
              </a:rPr>
              <a:t> Farmers need real-time market rates and weather reports, often hindered by language/literacy gaps.</a:t>
            </a:r>
            <a:endParaRPr lang="en-US" sz="1600" dirty="0"/>
          </a:p>
        </p:txBody>
      </p:sp>
      <p:sp>
        <p:nvSpPr>
          <p:cNvPr id="9" name="Text 7"/>
          <p:cNvSpPr/>
          <p:nvPr/>
        </p:nvSpPr>
        <p:spPr>
          <a:xfrm>
            <a:off x="837724" y="6238161"/>
            <a:ext cx="6221968" cy="670084"/>
          </a:xfrm>
          <a:prstGeom prst="rect">
            <a:avLst/>
          </a:prstGeom>
          <a:noFill/>
          <a:ln/>
        </p:spPr>
        <p:txBody>
          <a:bodyPr wrap="square" lIns="0" tIns="0" rIns="0" bIns="0" rtlCol="0" anchor="t"/>
          <a:lstStyle/>
          <a:p>
            <a:pPr marL="0" indent="0" algn="l">
              <a:lnSpc>
                <a:spcPts val="2600"/>
              </a:lnSpc>
              <a:buNone/>
            </a:pPr>
            <a:r>
              <a:rPr lang="en-US" sz="1600" dirty="0">
                <a:solidFill>
                  <a:srgbClr val="000000"/>
                </a:solidFill>
                <a:latin typeface="PT Sans" pitchFamily="34" charset="0"/>
                <a:ea typeface="PT Sans" pitchFamily="34" charset="-122"/>
                <a:cs typeface="PT Sans" pitchFamily="34" charset="-120"/>
              </a:rPr>
              <a:t>User research shows a significant preference for voice-based interaction and a demand for accessible information retrieval.</a:t>
            </a:r>
            <a:endParaRPr lang="en-US" sz="1600" dirty="0"/>
          </a:p>
        </p:txBody>
      </p:sp>
      <p:sp>
        <p:nvSpPr>
          <p:cNvPr id="10" name="Text 8"/>
          <p:cNvSpPr/>
          <p:nvPr/>
        </p:nvSpPr>
        <p:spPr>
          <a:xfrm>
            <a:off x="7578328" y="2905601"/>
            <a:ext cx="3137654" cy="369689"/>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Nunito Semi Bold" pitchFamily="34" charset="0"/>
                <a:ea typeface="Nunito Semi Bold" pitchFamily="34" charset="-122"/>
                <a:cs typeface="Nunito Semi Bold" pitchFamily="34" charset="-120"/>
              </a:rPr>
              <a:t>Competitive Landscape</a:t>
            </a:r>
            <a:endParaRPr lang="en-US" sz="2300" dirty="0"/>
          </a:p>
        </p:txBody>
      </p:sp>
      <p:sp>
        <p:nvSpPr>
          <p:cNvPr id="11" name="Text 9"/>
          <p:cNvSpPr/>
          <p:nvPr/>
        </p:nvSpPr>
        <p:spPr>
          <a:xfrm>
            <a:off x="7578328" y="3484721"/>
            <a:ext cx="6221968" cy="670084"/>
          </a:xfrm>
          <a:prstGeom prst="rect">
            <a:avLst/>
          </a:prstGeom>
          <a:noFill/>
          <a:ln/>
        </p:spPr>
        <p:txBody>
          <a:bodyPr wrap="square" lIns="0" tIns="0" rIns="0" bIns="0" rtlCol="0" anchor="t"/>
          <a:lstStyle/>
          <a:p>
            <a:pPr marL="0" indent="0" algn="l">
              <a:lnSpc>
                <a:spcPts val="2600"/>
              </a:lnSpc>
              <a:buNone/>
            </a:pPr>
            <a:r>
              <a:rPr lang="en-US" sz="1600" dirty="0">
                <a:solidFill>
                  <a:srgbClr val="000000"/>
                </a:solidFill>
                <a:latin typeface="PT Sans" pitchFamily="34" charset="0"/>
                <a:ea typeface="PT Sans" pitchFamily="34" charset="-122"/>
                <a:cs typeface="PT Sans" pitchFamily="34" charset="-120"/>
              </a:rPr>
              <a:t>While related products exist, no direct competitor offers Quick Docs exact combination of features:</a:t>
            </a:r>
            <a:endParaRPr lang="en-US" sz="1600" dirty="0"/>
          </a:p>
        </p:txBody>
      </p:sp>
      <p:sp>
        <p:nvSpPr>
          <p:cNvPr id="12" name="Text 10"/>
          <p:cNvSpPr/>
          <p:nvPr/>
        </p:nvSpPr>
        <p:spPr>
          <a:xfrm>
            <a:off x="7578328" y="4343281"/>
            <a:ext cx="6221968" cy="670084"/>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000000"/>
                </a:solidFill>
                <a:latin typeface="PT Sans" pitchFamily="34" charset="0"/>
                <a:ea typeface="PT Sans" pitchFamily="34" charset="-122"/>
                <a:cs typeface="PT Sans" pitchFamily="34" charset="-120"/>
              </a:rPr>
              <a:t>Google Lens / Adobe Scan / Microsoft Office Lens:</a:t>
            </a:r>
            <a:r>
              <a:rPr lang="en-US" sz="1600" dirty="0">
                <a:solidFill>
                  <a:srgbClr val="000000"/>
                </a:solidFill>
                <a:latin typeface="PT Sans" pitchFamily="34" charset="0"/>
                <a:ea typeface="PT Sans" pitchFamily="34" charset="-122"/>
                <a:cs typeface="PT Sans" pitchFamily="34" charset="-120"/>
              </a:rPr>
              <a:t> Lack document indexing, AI-driven search, and multilingual voice interaction.</a:t>
            </a:r>
            <a:endParaRPr lang="en-US" sz="1600" dirty="0"/>
          </a:p>
        </p:txBody>
      </p:sp>
      <p:sp>
        <p:nvSpPr>
          <p:cNvPr id="13" name="Text 11"/>
          <p:cNvSpPr/>
          <p:nvPr/>
        </p:nvSpPr>
        <p:spPr>
          <a:xfrm>
            <a:off x="7578328" y="5086588"/>
            <a:ext cx="6221968" cy="670084"/>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000000"/>
                </a:solidFill>
                <a:latin typeface="PT Sans" pitchFamily="34" charset="0"/>
                <a:ea typeface="PT Sans" pitchFamily="34" charset="-122"/>
                <a:cs typeface="PT Sans" pitchFamily="34" charset="-120"/>
              </a:rPr>
              <a:t>ChatGPT/ Conversational AI:</a:t>
            </a:r>
            <a:r>
              <a:rPr lang="en-US" sz="1600" dirty="0">
                <a:solidFill>
                  <a:srgbClr val="000000"/>
                </a:solidFill>
                <a:latin typeface="PT Sans" pitchFamily="34" charset="0"/>
                <a:ea typeface="PT Sans" pitchFamily="34" charset="-122"/>
                <a:cs typeface="PT Sans" pitchFamily="34" charset="-120"/>
              </a:rPr>
              <a:t> Not integrated into secure document storage or indexing environments.</a:t>
            </a:r>
            <a:endParaRPr lang="en-US" sz="1600" dirty="0"/>
          </a:p>
        </p:txBody>
      </p:sp>
      <p:sp>
        <p:nvSpPr>
          <p:cNvPr id="14" name="Text 12"/>
          <p:cNvSpPr/>
          <p:nvPr/>
        </p:nvSpPr>
        <p:spPr>
          <a:xfrm>
            <a:off x="7578328" y="5945148"/>
            <a:ext cx="6221968" cy="1005126"/>
          </a:xfrm>
          <a:prstGeom prst="rect">
            <a:avLst/>
          </a:prstGeom>
          <a:noFill/>
          <a:ln/>
        </p:spPr>
        <p:txBody>
          <a:bodyPr wrap="square" lIns="0" tIns="0" rIns="0" bIns="0" rtlCol="0" anchor="t"/>
          <a:lstStyle/>
          <a:p>
            <a:pPr marL="0" indent="0" algn="l">
              <a:lnSpc>
                <a:spcPts val="2600"/>
              </a:lnSpc>
              <a:buNone/>
            </a:pPr>
            <a:r>
              <a:rPr lang="en-US" sz="1600" dirty="0">
                <a:solidFill>
                  <a:srgbClr val="000000"/>
                </a:solidFill>
                <a:latin typeface="PT Sans" pitchFamily="34" charset="0"/>
                <a:ea typeface="PT Sans" pitchFamily="34" charset="-122"/>
                <a:cs typeface="PT Sans" pitchFamily="34" charset="-120"/>
              </a:rPr>
              <a:t>Quick Docs differentiates itself by combining document management, AI search, security encryption, and multilingual voice interaction, tailored for real-world users.</a:t>
            </a:r>
            <a:endParaRPr lang="en-US" sz="1600" dirty="0"/>
          </a:p>
        </p:txBody>
      </p:sp>
      <p:pic>
        <p:nvPicPr>
          <p:cNvPr id="18" name="Picture 17">
            <a:extLst>
              <a:ext uri="{FF2B5EF4-FFF2-40B4-BE49-F238E27FC236}">
                <a16:creationId xmlns:a16="http://schemas.microsoft.com/office/drawing/2014/main" id="{FF0FA71B-835E-A20E-0C38-44DB854AAB3F}"/>
              </a:ext>
            </a:extLst>
          </p:cNvPr>
          <p:cNvPicPr>
            <a:picLocks noChangeAspect="1"/>
          </p:cNvPicPr>
          <p:nvPr/>
        </p:nvPicPr>
        <p:blipFill>
          <a:blip r:embed="rId3"/>
          <a:stretch>
            <a:fillRect/>
          </a:stretch>
        </p:blipFill>
        <p:spPr>
          <a:xfrm>
            <a:off x="12504465" y="7713972"/>
            <a:ext cx="2014422" cy="3970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13398" y="352901"/>
            <a:ext cx="6165056" cy="377547"/>
          </a:xfrm>
          <a:prstGeom prst="rect">
            <a:avLst/>
          </a:prstGeom>
          <a:noFill/>
          <a:ln/>
        </p:spPr>
        <p:txBody>
          <a:bodyPr wrap="none" lIns="0" tIns="0" rIns="0" bIns="0" rtlCol="0" anchor="t"/>
          <a:lstStyle/>
          <a:p>
            <a:pPr marL="0" indent="0" algn="l">
              <a:lnSpc>
                <a:spcPts val="2950"/>
              </a:lnSpc>
              <a:buNone/>
            </a:pPr>
            <a:r>
              <a:rPr lang="en-US" sz="2350" dirty="0">
                <a:solidFill>
                  <a:srgbClr val="FFFFFF"/>
                </a:solidFill>
                <a:latin typeface="Nunito Semi Bold" pitchFamily="34" charset="0"/>
                <a:ea typeface="Nunito Semi Bold" pitchFamily="34" charset="-122"/>
                <a:cs typeface="Nunito Semi Bold" pitchFamily="34" charset="-120"/>
              </a:rPr>
              <a:t>Technologies &amp; Architecture: Our Foundation</a:t>
            </a:r>
            <a:endParaRPr lang="en-US" sz="2350" dirty="0"/>
          </a:p>
        </p:txBody>
      </p:sp>
      <p:sp>
        <p:nvSpPr>
          <p:cNvPr id="4" name="Text 2"/>
          <p:cNvSpPr/>
          <p:nvPr/>
        </p:nvSpPr>
        <p:spPr>
          <a:xfrm>
            <a:off x="472446" y="926117"/>
            <a:ext cx="2095987" cy="225504"/>
          </a:xfrm>
          <a:prstGeom prst="rect">
            <a:avLst/>
          </a:prstGeom>
          <a:noFill/>
          <a:ln/>
        </p:spPr>
        <p:txBody>
          <a:bodyPr wrap="none" lIns="0" tIns="0" rIns="0" bIns="0" rtlCol="0" anchor="t"/>
          <a:lstStyle/>
          <a:p>
            <a:pPr marL="0" indent="0" algn="l">
              <a:lnSpc>
                <a:spcPts val="1750"/>
              </a:lnSpc>
              <a:buNone/>
            </a:pPr>
            <a:r>
              <a:rPr lang="en-US" dirty="0">
                <a:solidFill>
                  <a:srgbClr val="FFFFFF"/>
                </a:solidFill>
                <a:latin typeface="Nunito Semi Bold" pitchFamily="34" charset="0"/>
                <a:ea typeface="Nunito Semi Bold" pitchFamily="34" charset="-122"/>
                <a:cs typeface="Nunito Semi Bold" pitchFamily="34" charset="-120"/>
              </a:rPr>
              <a:t>Primary Technologies</a:t>
            </a:r>
            <a:endParaRPr lang="en-US" dirty="0"/>
          </a:p>
        </p:txBody>
      </p:sp>
      <p:pic>
        <p:nvPicPr>
          <p:cNvPr id="11" name="Image 0" descr="preencoded.png"/>
          <p:cNvPicPr>
            <a:picLocks noChangeAspect="1"/>
          </p:cNvPicPr>
          <p:nvPr/>
        </p:nvPicPr>
        <p:blipFill>
          <a:blip r:embed="rId3"/>
          <a:stretch>
            <a:fillRect/>
          </a:stretch>
        </p:blipFill>
        <p:spPr>
          <a:xfrm>
            <a:off x="7872758" y="852423"/>
            <a:ext cx="6285197" cy="6285197"/>
          </a:xfrm>
          <a:prstGeom prst="rect">
            <a:avLst/>
          </a:prstGeom>
        </p:spPr>
      </p:pic>
      <p:sp>
        <p:nvSpPr>
          <p:cNvPr id="12" name="Text 9"/>
          <p:cNvSpPr/>
          <p:nvPr/>
        </p:nvSpPr>
        <p:spPr>
          <a:xfrm>
            <a:off x="472446" y="3511505"/>
            <a:ext cx="2783274" cy="349805"/>
          </a:xfrm>
          <a:prstGeom prst="rect">
            <a:avLst/>
          </a:prstGeom>
          <a:noFill/>
          <a:ln/>
        </p:spPr>
        <p:txBody>
          <a:bodyPr wrap="none" lIns="0" tIns="0" rIns="0" bIns="0" rtlCol="0" anchor="t"/>
          <a:lstStyle/>
          <a:p>
            <a:pPr marL="0" indent="0" algn="l">
              <a:lnSpc>
                <a:spcPts val="1750"/>
              </a:lnSpc>
              <a:buNone/>
            </a:pPr>
            <a:r>
              <a:rPr lang="en-US" dirty="0">
                <a:solidFill>
                  <a:srgbClr val="FFFFFF"/>
                </a:solidFill>
                <a:latin typeface="Nunito Semi Bold" pitchFamily="34" charset="0"/>
                <a:ea typeface="Nunito Semi Bold" pitchFamily="34" charset="-122"/>
                <a:cs typeface="Nunito Semi Bold" pitchFamily="34" charset="-120"/>
              </a:rPr>
              <a:t>Conceptual Architecture</a:t>
            </a:r>
            <a:endParaRPr lang="en-US" dirty="0"/>
          </a:p>
        </p:txBody>
      </p:sp>
      <p:sp>
        <p:nvSpPr>
          <p:cNvPr id="13" name="Text 10"/>
          <p:cNvSpPr/>
          <p:nvPr/>
        </p:nvSpPr>
        <p:spPr>
          <a:xfrm>
            <a:off x="472446" y="3869731"/>
            <a:ext cx="4527389" cy="1968646"/>
          </a:xfrm>
          <a:prstGeom prst="rect">
            <a:avLst/>
          </a:prstGeom>
          <a:noFill/>
          <a:ln/>
        </p:spPr>
        <p:txBody>
          <a:bodyPr wrap="none" lIns="0" tIns="0" rIns="0" bIns="0" rtlCol="0" anchor="t"/>
          <a:lstStyle/>
          <a:p>
            <a:pPr>
              <a:lnSpc>
                <a:spcPct val="150000"/>
              </a:lnSpc>
            </a:pPr>
            <a:r>
              <a:rPr lang="en-US" sz="1400" dirty="0">
                <a:solidFill>
                  <a:srgbClr val="F2B42D"/>
                </a:solidFill>
                <a:latin typeface="PT Sans" pitchFamily="34" charset="0"/>
                <a:ea typeface="PT Sans" pitchFamily="34" charset="-122"/>
                <a:cs typeface="PT Sans" pitchFamily="34" charset="-120"/>
              </a:rPr>
              <a:t>→ </a:t>
            </a:r>
            <a:r>
              <a:rPr lang="en-US" sz="1400" dirty="0">
                <a:solidFill>
                  <a:srgbClr val="FFFFFF"/>
                </a:solidFill>
                <a:latin typeface="PT Sans" pitchFamily="34" charset="0"/>
                <a:ea typeface="PT Sans" pitchFamily="34" charset="-122"/>
                <a:cs typeface="PT Sans" pitchFamily="34" charset="-120"/>
              </a:rPr>
              <a:t>Users upload documents </a:t>
            </a:r>
          </a:p>
          <a:p>
            <a:pPr>
              <a:lnSpc>
                <a:spcPct val="150000"/>
              </a:lnSpc>
            </a:pPr>
            <a:r>
              <a:rPr lang="en-US" sz="1400" dirty="0">
                <a:solidFill>
                  <a:srgbClr val="F2B42D"/>
                </a:solidFill>
                <a:latin typeface="PT Sans" pitchFamily="34" charset="0"/>
                <a:ea typeface="PT Sans" pitchFamily="34" charset="-122"/>
                <a:cs typeface="PT Sans" pitchFamily="34" charset="-120"/>
              </a:rPr>
              <a:t>→ </a:t>
            </a:r>
            <a:r>
              <a:rPr lang="en-US" sz="1400" dirty="0">
                <a:solidFill>
                  <a:srgbClr val="FFFFFF"/>
                </a:solidFill>
                <a:latin typeface="PT Sans" pitchFamily="34" charset="0"/>
                <a:ea typeface="PT Sans" pitchFamily="34" charset="-122"/>
                <a:cs typeface="PT Sans" pitchFamily="34" charset="-120"/>
              </a:rPr>
              <a:t>AI parses and indexes content </a:t>
            </a:r>
          </a:p>
          <a:p>
            <a:pPr>
              <a:lnSpc>
                <a:spcPct val="150000"/>
              </a:lnSpc>
            </a:pPr>
            <a:r>
              <a:rPr lang="en-US" sz="1400" dirty="0">
                <a:solidFill>
                  <a:srgbClr val="F2B42D"/>
                </a:solidFill>
                <a:latin typeface="PT Sans" pitchFamily="34" charset="0"/>
                <a:ea typeface="PT Sans" pitchFamily="34" charset="-122"/>
                <a:cs typeface="PT Sans" pitchFamily="34" charset="-120"/>
              </a:rPr>
              <a:t>→ </a:t>
            </a:r>
            <a:r>
              <a:rPr lang="en-US" sz="1400" dirty="0">
                <a:solidFill>
                  <a:srgbClr val="FFFFFF"/>
                </a:solidFill>
                <a:latin typeface="PT Sans" pitchFamily="34" charset="0"/>
                <a:ea typeface="PT Sans" pitchFamily="34" charset="-122"/>
                <a:cs typeface="PT Sans" pitchFamily="34" charset="-120"/>
              </a:rPr>
              <a:t>Data stored securely </a:t>
            </a:r>
          </a:p>
          <a:p>
            <a:pPr>
              <a:lnSpc>
                <a:spcPct val="150000"/>
              </a:lnSpc>
            </a:pPr>
            <a:r>
              <a:rPr lang="en-US" sz="1400" dirty="0">
                <a:solidFill>
                  <a:srgbClr val="F2B42D"/>
                </a:solidFill>
                <a:latin typeface="PT Sans" pitchFamily="34" charset="0"/>
                <a:ea typeface="PT Sans" pitchFamily="34" charset="-122"/>
                <a:cs typeface="PT Sans" pitchFamily="34" charset="-120"/>
              </a:rPr>
              <a:t>→ </a:t>
            </a:r>
            <a:r>
              <a:rPr lang="en-US" sz="1400" dirty="0">
                <a:solidFill>
                  <a:srgbClr val="FFFFFF"/>
                </a:solidFill>
                <a:latin typeface="PT Sans" pitchFamily="34" charset="0"/>
                <a:ea typeface="PT Sans" pitchFamily="34" charset="-122"/>
                <a:cs typeface="PT Sans" pitchFamily="34" charset="-120"/>
              </a:rPr>
              <a:t>Users search via text or voice </a:t>
            </a:r>
          </a:p>
          <a:p>
            <a:pPr>
              <a:lnSpc>
                <a:spcPct val="150000"/>
              </a:lnSpc>
            </a:pPr>
            <a:r>
              <a:rPr lang="en-US" sz="1400" dirty="0">
                <a:solidFill>
                  <a:srgbClr val="F2B42D"/>
                </a:solidFill>
                <a:latin typeface="PT Sans" pitchFamily="34" charset="0"/>
                <a:ea typeface="PT Sans" pitchFamily="34" charset="-122"/>
                <a:cs typeface="PT Sans" pitchFamily="34" charset="-120"/>
              </a:rPr>
              <a:t>→ </a:t>
            </a:r>
            <a:r>
              <a:rPr lang="en-US" sz="1400" dirty="0">
                <a:solidFill>
                  <a:srgbClr val="FFFFFF"/>
                </a:solidFill>
                <a:latin typeface="PT Sans" pitchFamily="34" charset="0"/>
                <a:ea typeface="PT Sans" pitchFamily="34" charset="-122"/>
                <a:cs typeface="PT Sans" pitchFamily="34" charset="-120"/>
              </a:rPr>
              <a:t>AI retrieves and responds instantly </a:t>
            </a:r>
          </a:p>
          <a:p>
            <a:pPr>
              <a:lnSpc>
                <a:spcPct val="150000"/>
              </a:lnSpc>
            </a:pPr>
            <a:r>
              <a:rPr lang="en-US" sz="1400" dirty="0">
                <a:solidFill>
                  <a:srgbClr val="F2B42D"/>
                </a:solidFill>
                <a:latin typeface="PT Sans" pitchFamily="34" charset="0"/>
                <a:ea typeface="PT Sans" pitchFamily="34" charset="-122"/>
                <a:cs typeface="PT Sans" pitchFamily="34" charset="-120"/>
              </a:rPr>
              <a:t>→ </a:t>
            </a:r>
            <a:r>
              <a:rPr lang="en-US" sz="1400" dirty="0">
                <a:solidFill>
                  <a:srgbClr val="FFFFFF"/>
                </a:solidFill>
                <a:latin typeface="PT Sans" pitchFamily="34" charset="0"/>
                <a:ea typeface="PT Sans" pitchFamily="34" charset="-122"/>
                <a:cs typeface="PT Sans" pitchFamily="34" charset="-120"/>
              </a:rPr>
              <a:t>Users manage documents through a secure interface.</a:t>
            </a:r>
            <a:endParaRPr lang="en-US" sz="1400" dirty="0"/>
          </a:p>
        </p:txBody>
      </p:sp>
      <p:sp>
        <p:nvSpPr>
          <p:cNvPr id="14" name="Text 11"/>
          <p:cNvSpPr/>
          <p:nvPr/>
        </p:nvSpPr>
        <p:spPr>
          <a:xfrm>
            <a:off x="620589" y="6166475"/>
            <a:ext cx="6949973" cy="1710223"/>
          </a:xfrm>
          <a:prstGeom prst="rect">
            <a:avLst/>
          </a:prstGeom>
          <a:noFill/>
          <a:ln/>
        </p:spPr>
        <p:txBody>
          <a:bodyPr wrap="square" lIns="0" tIns="0" rIns="0" bIns="0" rtlCol="0" anchor="t"/>
          <a:lstStyle/>
          <a:p>
            <a:pPr marL="0" indent="0" algn="just">
              <a:lnSpc>
                <a:spcPts val="1600"/>
              </a:lnSpc>
              <a:buNone/>
            </a:pPr>
            <a:r>
              <a:rPr lang="en-US" sz="1400" b="1" dirty="0">
                <a:solidFill>
                  <a:srgbClr val="FFFFFF"/>
                </a:solidFill>
                <a:latin typeface="PT Sans" pitchFamily="34" charset="0"/>
                <a:ea typeface="PT Sans" pitchFamily="34" charset="-122"/>
                <a:cs typeface="PT Sans" pitchFamily="34" charset="-120"/>
              </a:rPr>
              <a:t>Last Word:</a:t>
            </a:r>
            <a:r>
              <a:rPr lang="en-US" sz="1400" dirty="0">
                <a:solidFill>
                  <a:srgbClr val="FFFFFF"/>
                </a:solidFill>
                <a:latin typeface="PT Sans" pitchFamily="34" charset="0"/>
                <a:ea typeface="PT Sans" pitchFamily="34" charset="-122"/>
                <a:cs typeface="PT Sans" pitchFamily="34" charset="-120"/>
              </a:rPr>
              <a:t> Quick Docs is more than a document viewer—it’s a bridge between technology and real-world needs. By leveraging AI and secure data handling, it empowers users to access information in the way that best suits them: by voice, language, or text. It’s designed not only to improve productivity but also to foster inclusivity, especially in regions where language and literacy barriers prevent access to critical information. Quick Docs aligns perfectly with D3CODE 2025’s goal of using data and intelligence to create positive social impact, and it has the potential to transform how people interact with information globally.</a:t>
            </a:r>
            <a:endParaRPr lang="en-US" sz="1400" dirty="0"/>
          </a:p>
        </p:txBody>
      </p:sp>
      <p:sp>
        <p:nvSpPr>
          <p:cNvPr id="15" name="Shape 12"/>
          <p:cNvSpPr/>
          <p:nvPr/>
        </p:nvSpPr>
        <p:spPr>
          <a:xfrm flipH="1">
            <a:off x="426726" y="6416147"/>
            <a:ext cx="45719" cy="904399"/>
          </a:xfrm>
          <a:prstGeom prst="rect">
            <a:avLst/>
          </a:prstGeom>
          <a:solidFill>
            <a:srgbClr val="F2B42D"/>
          </a:solidFill>
          <a:ln/>
        </p:spPr>
      </p:sp>
      <p:pic>
        <p:nvPicPr>
          <p:cNvPr id="17" name="Picture 16">
            <a:extLst>
              <a:ext uri="{FF2B5EF4-FFF2-40B4-BE49-F238E27FC236}">
                <a16:creationId xmlns:a16="http://schemas.microsoft.com/office/drawing/2014/main" id="{4E34BC6C-027A-ED26-81FF-548883526703}"/>
              </a:ext>
            </a:extLst>
          </p:cNvPr>
          <p:cNvPicPr>
            <a:picLocks noChangeAspect="1"/>
          </p:cNvPicPr>
          <p:nvPr/>
        </p:nvPicPr>
        <p:blipFill>
          <a:blip r:embed="rId4"/>
          <a:stretch>
            <a:fillRect/>
          </a:stretch>
        </p:blipFill>
        <p:spPr>
          <a:xfrm>
            <a:off x="12188399" y="7661236"/>
            <a:ext cx="2350136" cy="479154"/>
          </a:xfrm>
          <a:prstGeom prst="rect">
            <a:avLst/>
          </a:prstGeom>
        </p:spPr>
      </p:pic>
      <p:sp>
        <p:nvSpPr>
          <p:cNvPr id="18" name="Text 3"/>
          <p:cNvSpPr/>
          <p:nvPr/>
        </p:nvSpPr>
        <p:spPr>
          <a:xfrm>
            <a:off x="528638" y="1382582"/>
            <a:ext cx="4471197" cy="226456"/>
          </a:xfrm>
          <a:prstGeom prst="rect">
            <a:avLst/>
          </a:prstGeom>
          <a:noFill/>
          <a:ln/>
        </p:spPr>
        <p:txBody>
          <a:bodyPr wrap="none" lIns="0" tIns="0" rIns="0" bIns="0" rtlCol="0" anchor="t"/>
          <a:lstStyle/>
          <a:p>
            <a:pPr marL="342900" indent="-342900" algn="l">
              <a:lnSpc>
                <a:spcPts val="1600"/>
              </a:lnSpc>
              <a:buSzPct val="100000"/>
              <a:buChar char="•"/>
            </a:pPr>
            <a:r>
              <a:rPr lang="en-US" sz="1400" b="1" dirty="0">
                <a:solidFill>
                  <a:srgbClr val="FFFFFF"/>
                </a:solidFill>
                <a:latin typeface="PT Sans" pitchFamily="34" charset="0"/>
                <a:ea typeface="PT Sans" pitchFamily="34" charset="-122"/>
                <a:cs typeface="PT Sans" pitchFamily="34" charset="-120"/>
              </a:rPr>
              <a:t>Languages:</a:t>
            </a:r>
            <a:r>
              <a:rPr lang="en-US" sz="1400" dirty="0">
                <a:solidFill>
                  <a:srgbClr val="FFFFFF"/>
                </a:solidFill>
                <a:latin typeface="PT Sans" pitchFamily="34" charset="0"/>
                <a:ea typeface="PT Sans" pitchFamily="34" charset="-122"/>
                <a:cs typeface="PT Sans" pitchFamily="34" charset="-120"/>
              </a:rPr>
              <a:t> JavaScript (Node.js, React Native), Python (for AI/NLP)</a:t>
            </a:r>
            <a:endParaRPr lang="en-US" sz="1400" dirty="0"/>
          </a:p>
        </p:txBody>
      </p:sp>
      <p:sp>
        <p:nvSpPr>
          <p:cNvPr id="19" name="Text 4"/>
          <p:cNvSpPr/>
          <p:nvPr/>
        </p:nvSpPr>
        <p:spPr>
          <a:xfrm>
            <a:off x="513398" y="1676865"/>
            <a:ext cx="3534495" cy="226456"/>
          </a:xfrm>
          <a:prstGeom prst="rect">
            <a:avLst/>
          </a:prstGeom>
          <a:noFill/>
          <a:ln/>
        </p:spPr>
        <p:txBody>
          <a:bodyPr wrap="none" lIns="0" tIns="0" rIns="0" bIns="0" rtlCol="0" anchor="t"/>
          <a:lstStyle/>
          <a:p>
            <a:pPr marL="342900" indent="-342900" algn="l">
              <a:lnSpc>
                <a:spcPts val="1600"/>
              </a:lnSpc>
              <a:buSzPct val="100000"/>
              <a:buChar char="•"/>
            </a:pPr>
            <a:r>
              <a:rPr lang="en-US" sz="1400" b="1" dirty="0">
                <a:solidFill>
                  <a:srgbClr val="FFFFFF"/>
                </a:solidFill>
                <a:latin typeface="PT Sans" pitchFamily="34" charset="0"/>
                <a:ea typeface="PT Sans" pitchFamily="34" charset="-122"/>
                <a:cs typeface="PT Sans" pitchFamily="34" charset="-120"/>
              </a:rPr>
              <a:t>Databases:</a:t>
            </a:r>
            <a:r>
              <a:rPr lang="en-US" sz="1400" dirty="0">
                <a:solidFill>
                  <a:srgbClr val="FFFFFF"/>
                </a:solidFill>
                <a:latin typeface="PT Sans" pitchFamily="34" charset="0"/>
                <a:ea typeface="PT Sans" pitchFamily="34" charset="-122"/>
                <a:cs typeface="PT Sans" pitchFamily="34" charset="-120"/>
              </a:rPr>
              <a:t> MongoDB (with AES encryption)</a:t>
            </a:r>
            <a:endParaRPr lang="en-US" sz="1400" dirty="0"/>
          </a:p>
        </p:txBody>
      </p:sp>
      <p:sp>
        <p:nvSpPr>
          <p:cNvPr id="20" name="Text 5"/>
          <p:cNvSpPr/>
          <p:nvPr/>
        </p:nvSpPr>
        <p:spPr>
          <a:xfrm>
            <a:off x="513398" y="1971618"/>
            <a:ext cx="4649617" cy="250149"/>
          </a:xfrm>
          <a:prstGeom prst="rect">
            <a:avLst/>
          </a:prstGeom>
          <a:noFill/>
          <a:ln/>
        </p:spPr>
        <p:txBody>
          <a:bodyPr wrap="none" lIns="0" tIns="0" rIns="0" bIns="0" rtlCol="0" anchor="t"/>
          <a:lstStyle/>
          <a:p>
            <a:pPr marL="342900" indent="-342900" algn="l">
              <a:lnSpc>
                <a:spcPts val="1600"/>
              </a:lnSpc>
              <a:buSzPct val="100000"/>
              <a:buChar char="•"/>
            </a:pPr>
            <a:r>
              <a:rPr lang="en-US" sz="1400" b="1" dirty="0">
                <a:solidFill>
                  <a:srgbClr val="FFFFFF"/>
                </a:solidFill>
                <a:latin typeface="PT Sans" pitchFamily="34" charset="0"/>
                <a:ea typeface="PT Sans" pitchFamily="34" charset="-122"/>
                <a:cs typeface="PT Sans" pitchFamily="34" charset="-120"/>
              </a:rPr>
              <a:t>Cloud &amp; APIs:</a:t>
            </a:r>
            <a:r>
              <a:rPr lang="en-US" sz="1400" dirty="0">
                <a:solidFill>
                  <a:srgbClr val="FFFFFF"/>
                </a:solidFill>
                <a:latin typeface="PT Sans" pitchFamily="34" charset="0"/>
                <a:ea typeface="PT Sans" pitchFamily="34" charset="-122"/>
                <a:cs typeface="PT Sans" pitchFamily="34" charset="-120"/>
              </a:rPr>
              <a:t> Google Cloud Storage, Google Cloud Vision API, OpenAI API</a:t>
            </a:r>
            <a:endParaRPr lang="en-US" sz="1400" dirty="0"/>
          </a:p>
        </p:txBody>
      </p:sp>
      <p:sp>
        <p:nvSpPr>
          <p:cNvPr id="21" name="Text 6"/>
          <p:cNvSpPr/>
          <p:nvPr/>
        </p:nvSpPr>
        <p:spPr>
          <a:xfrm>
            <a:off x="513398" y="2277921"/>
            <a:ext cx="3411831" cy="250151"/>
          </a:xfrm>
          <a:prstGeom prst="rect">
            <a:avLst/>
          </a:prstGeom>
          <a:noFill/>
          <a:ln/>
        </p:spPr>
        <p:txBody>
          <a:bodyPr wrap="none" lIns="0" tIns="0" rIns="0" bIns="0" rtlCol="0" anchor="t"/>
          <a:lstStyle/>
          <a:p>
            <a:pPr marL="342900" indent="-342900" algn="l">
              <a:lnSpc>
                <a:spcPts val="1600"/>
              </a:lnSpc>
              <a:buSzPct val="100000"/>
              <a:buChar char="•"/>
            </a:pPr>
            <a:r>
              <a:rPr lang="en-US" sz="1400" b="1" dirty="0">
                <a:solidFill>
                  <a:srgbClr val="FFFFFF"/>
                </a:solidFill>
                <a:latin typeface="PT Sans" pitchFamily="34" charset="0"/>
                <a:ea typeface="PT Sans" pitchFamily="34" charset="-122"/>
                <a:cs typeface="PT Sans" pitchFamily="34" charset="-120"/>
              </a:rPr>
              <a:t>Frameworks:</a:t>
            </a:r>
            <a:r>
              <a:rPr lang="en-US" sz="1400" dirty="0">
                <a:solidFill>
                  <a:srgbClr val="FFFFFF"/>
                </a:solidFill>
                <a:latin typeface="PT Sans" pitchFamily="34" charset="0"/>
                <a:ea typeface="PT Sans" pitchFamily="34" charset="-122"/>
                <a:cs typeface="PT Sans" pitchFamily="34" charset="-120"/>
              </a:rPr>
              <a:t> React Native with Expo, Express.js</a:t>
            </a:r>
            <a:endParaRPr lang="en-US" sz="1400" dirty="0"/>
          </a:p>
        </p:txBody>
      </p:sp>
      <p:sp>
        <p:nvSpPr>
          <p:cNvPr id="22" name="Text 7"/>
          <p:cNvSpPr/>
          <p:nvPr/>
        </p:nvSpPr>
        <p:spPr>
          <a:xfrm>
            <a:off x="513398" y="2594382"/>
            <a:ext cx="3289168" cy="205264"/>
          </a:xfrm>
          <a:prstGeom prst="rect">
            <a:avLst/>
          </a:prstGeom>
          <a:noFill/>
          <a:ln/>
        </p:spPr>
        <p:txBody>
          <a:bodyPr wrap="none" lIns="0" tIns="0" rIns="0" bIns="0" rtlCol="0" anchor="t"/>
          <a:lstStyle/>
          <a:p>
            <a:pPr marL="342900" indent="-342900" algn="l">
              <a:lnSpc>
                <a:spcPts val="1600"/>
              </a:lnSpc>
              <a:buSzPct val="100000"/>
              <a:buChar char="•"/>
            </a:pPr>
            <a:r>
              <a:rPr lang="en-US" sz="1400" b="1" dirty="0">
                <a:solidFill>
                  <a:srgbClr val="FFFFFF"/>
                </a:solidFill>
                <a:latin typeface="PT Sans" pitchFamily="34" charset="0"/>
                <a:ea typeface="PT Sans" pitchFamily="34" charset="-122"/>
                <a:cs typeface="PT Sans" pitchFamily="34" charset="-120"/>
              </a:rPr>
              <a:t>Security:</a:t>
            </a:r>
            <a:r>
              <a:rPr lang="en-US" sz="1400" dirty="0">
                <a:solidFill>
                  <a:srgbClr val="FFFFFF"/>
                </a:solidFill>
                <a:latin typeface="PT Sans" pitchFamily="34" charset="0"/>
                <a:ea typeface="PT Sans" pitchFamily="34" charset="-122"/>
                <a:cs typeface="PT Sans" pitchFamily="34" charset="-120"/>
              </a:rPr>
              <a:t> AES-256 encryption, JWT tokens, OAuth</a:t>
            </a:r>
            <a:endParaRPr lang="en-US" sz="1400" dirty="0"/>
          </a:p>
        </p:txBody>
      </p:sp>
      <p:sp>
        <p:nvSpPr>
          <p:cNvPr id="23" name="Text 8"/>
          <p:cNvSpPr/>
          <p:nvPr/>
        </p:nvSpPr>
        <p:spPr>
          <a:xfrm>
            <a:off x="513398" y="2900838"/>
            <a:ext cx="3289168" cy="270269"/>
          </a:xfrm>
          <a:prstGeom prst="rect">
            <a:avLst/>
          </a:prstGeom>
          <a:noFill/>
          <a:ln/>
        </p:spPr>
        <p:txBody>
          <a:bodyPr wrap="none" lIns="0" tIns="0" rIns="0" bIns="0" rtlCol="0" anchor="t"/>
          <a:lstStyle/>
          <a:p>
            <a:pPr marL="342900" indent="-342900" algn="l">
              <a:lnSpc>
                <a:spcPts val="1600"/>
              </a:lnSpc>
              <a:buSzPct val="100000"/>
              <a:buChar char="•"/>
            </a:pPr>
            <a:r>
              <a:rPr lang="en-US" sz="1400" b="1" dirty="0">
                <a:solidFill>
                  <a:srgbClr val="FFFFFF"/>
                </a:solidFill>
                <a:latin typeface="PT Sans" pitchFamily="34" charset="0"/>
                <a:ea typeface="PT Sans" pitchFamily="34" charset="-122"/>
                <a:cs typeface="PT Sans" pitchFamily="34" charset="-120"/>
              </a:rPr>
              <a:t>Voice:</a:t>
            </a:r>
            <a:r>
              <a:rPr lang="en-US" sz="1400" dirty="0">
                <a:solidFill>
                  <a:srgbClr val="FFFFFF"/>
                </a:solidFill>
                <a:latin typeface="PT Sans" pitchFamily="34" charset="0"/>
                <a:ea typeface="PT Sans" pitchFamily="34" charset="-122"/>
                <a:cs typeface="PT Sans" pitchFamily="34" charset="-120"/>
              </a:rPr>
              <a:t> Google Speech-to-Text API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1272</Words>
  <Application>Microsoft Office PowerPoint</Application>
  <PresentationFormat>Custom</PresentationFormat>
  <Paragraphs>124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PT Sans</vt:lpstr>
      <vt:lpstr>Nunito Semi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Neduri Rajeswar Yadav</cp:lastModifiedBy>
  <cp:revision>46</cp:revision>
  <dcterms:created xsi:type="dcterms:W3CDTF">2025-09-09T15:44:15Z</dcterms:created>
  <dcterms:modified xsi:type="dcterms:W3CDTF">2025-09-09T16:11:07Z</dcterms:modified>
</cp:coreProperties>
</file>